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Archivo Black" charset="1" panose="020B0A03020202020B04"/>
      <p:regular r:id="rId34"/>
    </p:embeddedFont>
    <p:embeddedFont>
      <p:font typeface="Garet Bold" charset="1" panose="00000000000000000000"/>
      <p:regular r:id="rId35"/>
    </p:embeddedFont>
    <p:embeddedFont>
      <p:font typeface="Garet" charset="1" panose="00000000000000000000"/>
      <p:regular r:id="rId36"/>
    </p:embeddedFont>
    <p:embeddedFont>
      <p:font typeface="Garet Light" charset="1" panose="00000000000000000000"/>
      <p:regular r:id="rId37"/>
    </p:embeddedFont>
    <p:embeddedFont>
      <p:font typeface="Canva Sans Bold" charset="1" panose="020B0803030501040103"/>
      <p:regular r:id="rId38"/>
    </p:embeddedFont>
    <p:embeddedFont>
      <p:font typeface="Canva Sans" charset="1" panose="020B05030305010401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https://arxiv.org/pdf/2407.21783" TargetMode="External" Type="http://schemas.openxmlformats.org/officeDocument/2006/relationships/hyperlink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60892" y="6255270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Architecture, Workflows &amp; Benchmark Report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32418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2144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Anand Gopalkrishna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4796" y="8732418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TO: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796" y="902144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Ministry of Home Affairs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8701" y="990600"/>
            <a:ext cx="4321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Scoriant Technology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 | 07/04/2026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23328" y="3552511"/>
            <a:ext cx="12011394" cy="265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72"/>
              </a:lnSpc>
            </a:pPr>
            <a:r>
              <a:rPr lang="en-US" sz="12784" spc="-10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SOLUTIONS</a:t>
            </a:r>
          </a:p>
          <a:p>
            <a:pPr algn="r" marL="0" indent="0" lvl="0">
              <a:lnSpc>
                <a:spcPts val="9738"/>
              </a:lnSpc>
              <a:spcBef>
                <a:spcPct val="0"/>
              </a:spcBef>
            </a:pPr>
            <a:r>
              <a:rPr lang="en-US" sz="12484" spc="-98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PORTFOLIO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032474" y="2344442"/>
          <a:ext cx="6511183" cy="493395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Document Intelligence Chatbot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AI Knowledge Studio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Face Recognition &amp; Attendence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Change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Object Detection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Video Analytics and OCR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7349"/>
            <a:ext cx="8972415" cy="5813375"/>
            <a:chOff x="0" y="0"/>
            <a:chExt cx="11963220" cy="7751167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317" r="0" b="1317"/>
            <a:stretch>
              <a:fillRect/>
            </a:stretch>
          </p:blipFill>
          <p:spPr>
            <a:xfrm flipH="false" flipV="false">
              <a:off x="0" y="0"/>
              <a:ext cx="11963220" cy="7751167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454940" y="6538531"/>
            <a:ext cx="3773857" cy="1341795"/>
            <a:chOff x="0" y="0"/>
            <a:chExt cx="940716" cy="334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716" cy="334472"/>
            </a:xfrm>
            <a:custGeom>
              <a:avLst/>
              <a:gdLst/>
              <a:ahLst/>
              <a:cxnLst/>
              <a:rect r="r" b="b" t="t" l="l"/>
              <a:pathLst>
                <a:path h="334472" w="940716">
                  <a:moveTo>
                    <a:pt x="104624" y="0"/>
                  </a:moveTo>
                  <a:lnTo>
                    <a:pt x="836092" y="0"/>
                  </a:lnTo>
                  <a:cubicBezTo>
                    <a:pt x="893874" y="0"/>
                    <a:pt x="940716" y="46842"/>
                    <a:pt x="940716" y="104624"/>
                  </a:cubicBezTo>
                  <a:lnTo>
                    <a:pt x="940716" y="229847"/>
                  </a:lnTo>
                  <a:cubicBezTo>
                    <a:pt x="940716" y="287630"/>
                    <a:pt x="893874" y="334472"/>
                    <a:pt x="836092" y="334472"/>
                  </a:cubicBezTo>
                  <a:lnTo>
                    <a:pt x="104624" y="334472"/>
                  </a:lnTo>
                  <a:cubicBezTo>
                    <a:pt x="46842" y="334472"/>
                    <a:pt x="0" y="287630"/>
                    <a:pt x="0" y="229847"/>
                  </a:cubicBezTo>
                  <a:lnTo>
                    <a:pt x="0" y="104624"/>
                  </a:lnTo>
                  <a:cubicBezTo>
                    <a:pt x="0" y="46842"/>
                    <a:pt x="46842" y="0"/>
                    <a:pt x="104624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40716" cy="391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192886" y="3356826"/>
            <a:ext cx="6621047" cy="74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37"/>
              </a:lnSpc>
            </a:pPr>
            <a:r>
              <a:rPr lang="en-US" sz="216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 powered solutions providing intelligence, security &amp; operational efficiency for MHA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042" y="6732411"/>
            <a:ext cx="3139653" cy="94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7"/>
              </a:lnSpc>
            </a:pPr>
            <a:r>
              <a:rPr lang="en-US" b="true" sz="274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AI Models Integrated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25" y="5840724"/>
            <a:ext cx="1074307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</a:pPr>
            <a:r>
              <a:rPr lang="en-US" b="true" sz="4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20+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10540" y="2114920"/>
            <a:ext cx="7203393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200"/>
              </a:lnSpc>
              <a:spcBef>
                <a:spcPct val="0"/>
              </a:spcBef>
            </a:pPr>
            <a:r>
              <a:rPr lang="en-US" sz="9200" spc="-72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62918" y="6729031"/>
            <a:ext cx="4040492" cy="1353149"/>
            <a:chOff x="0" y="0"/>
            <a:chExt cx="1064162" cy="3563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4162" cy="356385"/>
            </a:xfrm>
            <a:custGeom>
              <a:avLst/>
              <a:gdLst/>
              <a:ahLst/>
              <a:cxnLst/>
              <a:rect r="r" b="b" t="t" l="l"/>
              <a:pathLst>
                <a:path h="356385" w="1064162">
                  <a:moveTo>
                    <a:pt x="97720" y="0"/>
                  </a:moveTo>
                  <a:lnTo>
                    <a:pt x="966442" y="0"/>
                  </a:lnTo>
                  <a:cubicBezTo>
                    <a:pt x="1020412" y="0"/>
                    <a:pt x="1064162" y="43751"/>
                    <a:pt x="1064162" y="97720"/>
                  </a:cubicBezTo>
                  <a:lnTo>
                    <a:pt x="1064162" y="258665"/>
                  </a:lnTo>
                  <a:cubicBezTo>
                    <a:pt x="1064162" y="312634"/>
                    <a:pt x="1020412" y="356385"/>
                    <a:pt x="966442" y="356385"/>
                  </a:cubicBezTo>
                  <a:lnTo>
                    <a:pt x="97720" y="356385"/>
                  </a:lnTo>
                  <a:cubicBezTo>
                    <a:pt x="43751" y="356385"/>
                    <a:pt x="0" y="312634"/>
                    <a:pt x="0" y="258665"/>
                  </a:cubicBezTo>
                  <a:lnTo>
                    <a:pt x="0" y="97720"/>
                  </a:lnTo>
                  <a:cubicBezTo>
                    <a:pt x="0" y="43751"/>
                    <a:pt x="43751" y="0"/>
                    <a:pt x="9772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64162" cy="413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835383" y="6907265"/>
            <a:ext cx="3295563" cy="94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b="true" sz="277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Languages supported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34443" y="6031224"/>
            <a:ext cx="1619317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</a:pPr>
            <a:r>
              <a:rPr lang="en-US" b="true" sz="4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200+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18712" y="8392061"/>
            <a:ext cx="4646500" cy="1522033"/>
            <a:chOff x="0" y="0"/>
            <a:chExt cx="1120257" cy="3669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0257" cy="366958"/>
            </a:xfrm>
            <a:custGeom>
              <a:avLst/>
              <a:gdLst/>
              <a:ahLst/>
              <a:cxnLst/>
              <a:rect r="r" b="b" t="t" l="l"/>
              <a:pathLst>
                <a:path h="366958" w="1120257">
                  <a:moveTo>
                    <a:pt x="84975" y="0"/>
                  </a:moveTo>
                  <a:lnTo>
                    <a:pt x="1035282" y="0"/>
                  </a:lnTo>
                  <a:cubicBezTo>
                    <a:pt x="1057819" y="0"/>
                    <a:pt x="1079433" y="8953"/>
                    <a:pt x="1095369" y="24889"/>
                  </a:cubicBezTo>
                  <a:cubicBezTo>
                    <a:pt x="1111305" y="40825"/>
                    <a:pt x="1120257" y="62438"/>
                    <a:pt x="1120257" y="84975"/>
                  </a:cubicBezTo>
                  <a:lnTo>
                    <a:pt x="1120257" y="281982"/>
                  </a:lnTo>
                  <a:cubicBezTo>
                    <a:pt x="1120257" y="328913"/>
                    <a:pt x="1082213" y="366958"/>
                    <a:pt x="1035282" y="366958"/>
                  </a:cubicBezTo>
                  <a:lnTo>
                    <a:pt x="84975" y="366958"/>
                  </a:lnTo>
                  <a:cubicBezTo>
                    <a:pt x="38045" y="366958"/>
                    <a:pt x="0" y="328913"/>
                    <a:pt x="0" y="281982"/>
                  </a:cubicBezTo>
                  <a:lnTo>
                    <a:pt x="0" y="84975"/>
                  </a:lnTo>
                  <a:cubicBezTo>
                    <a:pt x="0" y="38045"/>
                    <a:pt x="38045" y="0"/>
                    <a:pt x="84975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120257" cy="42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449376" y="8661500"/>
            <a:ext cx="3785171" cy="93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3"/>
              </a:lnSpc>
            </a:pPr>
            <a:r>
              <a:rPr lang="en-US" b="true" sz="273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Data Privacy with no external API calls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28797" y="7686574"/>
            <a:ext cx="1579829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</a:pPr>
            <a:r>
              <a:rPr lang="en-US" b="true" sz="4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100%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040712" y="8560944"/>
            <a:ext cx="4040492" cy="1353149"/>
            <a:chOff x="0" y="0"/>
            <a:chExt cx="1064162" cy="3563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4162" cy="356385"/>
            </a:xfrm>
            <a:custGeom>
              <a:avLst/>
              <a:gdLst/>
              <a:ahLst/>
              <a:cxnLst/>
              <a:rect r="r" b="b" t="t" l="l"/>
              <a:pathLst>
                <a:path h="356385" w="1064162">
                  <a:moveTo>
                    <a:pt x="97720" y="0"/>
                  </a:moveTo>
                  <a:lnTo>
                    <a:pt x="966442" y="0"/>
                  </a:lnTo>
                  <a:cubicBezTo>
                    <a:pt x="1020412" y="0"/>
                    <a:pt x="1064162" y="43751"/>
                    <a:pt x="1064162" y="97720"/>
                  </a:cubicBezTo>
                  <a:lnTo>
                    <a:pt x="1064162" y="258665"/>
                  </a:lnTo>
                  <a:cubicBezTo>
                    <a:pt x="1064162" y="312634"/>
                    <a:pt x="1020412" y="356385"/>
                    <a:pt x="966442" y="356385"/>
                  </a:cubicBezTo>
                  <a:lnTo>
                    <a:pt x="97720" y="356385"/>
                  </a:lnTo>
                  <a:cubicBezTo>
                    <a:pt x="43751" y="356385"/>
                    <a:pt x="0" y="312634"/>
                    <a:pt x="0" y="258665"/>
                  </a:cubicBezTo>
                  <a:lnTo>
                    <a:pt x="0" y="97720"/>
                  </a:lnTo>
                  <a:cubicBezTo>
                    <a:pt x="0" y="43751"/>
                    <a:pt x="43751" y="0"/>
                    <a:pt x="97720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64162" cy="413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413176" y="8739179"/>
            <a:ext cx="3295563" cy="94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b="true" sz="277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Processing latency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30945" y="7841549"/>
            <a:ext cx="1700608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28"/>
              </a:lnSpc>
            </a:pPr>
            <a:r>
              <a:rPr lang="en-US" b="true" sz="430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&lt;3s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933069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419603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1159450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73369"/>
            <a:ext cx="8115300" cy="158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8"/>
              </a:lnSpc>
              <a:spcBef>
                <a:spcPct val="0"/>
              </a:spcBef>
            </a:pPr>
            <a:r>
              <a:rPr lang="en-US" sz="6008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Document Intelligence Chatbot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91970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04/28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971224"/>
            <a:ext cx="930024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Transforming organizational documents into an interactive, multilingual knowledge platform with RBAC and semantic 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7030" y="430557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01823" y="430557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5187" y="4827541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Multi Format Ingestion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21734" y="430557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5187" y="5440680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PDF, DOCX, PPT,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Excel, TXT, 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Image-based docs via OCR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1070" y="4827541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Multilingual Support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91070" y="5254943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language detection + translation to English before indexing. English → Indic Languages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7054" y="4827541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Semantic Search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17054" y="5254943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FAISS v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ector store for contextual retrieval with chunk-level indexing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7030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01823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187" y="7401878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RBAC &amp; Dept. Access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21734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5187" y="8013112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le-based access — users retrieve only authorized documents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91070" y="7399973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Grounded Responses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91070" y="7827374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nswers strictly generated from retrieved evidence with source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citations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17054" y="7399973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Semantic Search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17054" y="7827374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FAISS v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ector store for contextual retrieval with chunk-level indexing</a:t>
            </a:r>
          </a:p>
        </p:txBody>
      </p:sp>
      <p:sp>
        <p:nvSpPr>
          <p:cNvPr name="AutoShape 27" id="27"/>
          <p:cNvSpPr/>
          <p:nvPr/>
        </p:nvSpPr>
        <p:spPr>
          <a:xfrm>
            <a:off x="-585133" y="6635115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5491545" y="4196034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1507491" y="4196034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933069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419603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1159450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73369"/>
            <a:ext cx="8115300" cy="158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8"/>
              </a:lnSpc>
              <a:spcBef>
                <a:spcPct val="0"/>
              </a:spcBef>
            </a:pPr>
            <a:r>
              <a:rPr lang="en-US" sz="6008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Document Intelligence Chatbot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05/28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971224"/>
            <a:ext cx="930024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Transforming organizational documents into an interactive, multilingual knowledge platform with RBAC and semantic 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7030" y="430557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01823" y="430557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5187" y="4827541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Multi Format Ingestion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21734" y="430557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5187" y="5440680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PDF, DOCX, PPT,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Excel, TXT, 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Image-based docs via OCR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1070" y="4827541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Multilingual Support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91070" y="5254943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language detection + translation to English before indexing. English → Indic Languages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7054" y="4827541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Semantic Search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17054" y="5254943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FAISS v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ector store for contextual retrieval with chunk-level indexing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7030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01823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187" y="7401878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RBAC &amp; Dept. Access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21734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5187" y="8013112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le-based access — users retrieve only authorized documents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91070" y="7399973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Grounded Responses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91070" y="7827374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nswers strictly generated from retrieved evidence with source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citations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17054" y="7399973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Semantic Search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17054" y="7827374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FAISS v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ector store for contextual retrieval with chunk-level indexing</a:t>
            </a:r>
          </a:p>
        </p:txBody>
      </p:sp>
      <p:sp>
        <p:nvSpPr>
          <p:cNvPr name="AutoShape 27" id="27"/>
          <p:cNvSpPr/>
          <p:nvPr/>
        </p:nvSpPr>
        <p:spPr>
          <a:xfrm>
            <a:off x="-585133" y="6635115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5491545" y="4196034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1507491" y="4196034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057" y="7457076"/>
            <a:ext cx="18040743" cy="2482192"/>
            <a:chOff x="0" y="0"/>
            <a:chExt cx="4751471" cy="6537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51472" cy="653746"/>
            </a:xfrm>
            <a:custGeom>
              <a:avLst/>
              <a:gdLst/>
              <a:ahLst/>
              <a:cxnLst/>
              <a:rect r="r" b="b" t="t" l="l"/>
              <a:pathLst>
                <a:path h="653746" w="4751472">
                  <a:moveTo>
                    <a:pt x="21886" y="0"/>
                  </a:moveTo>
                  <a:lnTo>
                    <a:pt x="4729586" y="0"/>
                  </a:lnTo>
                  <a:cubicBezTo>
                    <a:pt x="4741673" y="0"/>
                    <a:pt x="4751472" y="9799"/>
                    <a:pt x="4751472" y="21886"/>
                  </a:cubicBezTo>
                  <a:lnTo>
                    <a:pt x="4751472" y="631860"/>
                  </a:lnTo>
                  <a:cubicBezTo>
                    <a:pt x="4751472" y="637665"/>
                    <a:pt x="4749166" y="643231"/>
                    <a:pt x="4745062" y="647336"/>
                  </a:cubicBezTo>
                  <a:cubicBezTo>
                    <a:pt x="4740957" y="651440"/>
                    <a:pt x="4735390" y="653746"/>
                    <a:pt x="4729586" y="653746"/>
                  </a:cubicBezTo>
                  <a:lnTo>
                    <a:pt x="21886" y="653746"/>
                  </a:lnTo>
                  <a:cubicBezTo>
                    <a:pt x="16081" y="653746"/>
                    <a:pt x="10515" y="651440"/>
                    <a:pt x="6410" y="647336"/>
                  </a:cubicBezTo>
                  <a:cubicBezTo>
                    <a:pt x="2306" y="643231"/>
                    <a:pt x="0" y="637665"/>
                    <a:pt x="0" y="631860"/>
                  </a:cubicBezTo>
                  <a:lnTo>
                    <a:pt x="0" y="21886"/>
                  </a:lnTo>
                  <a:cubicBezTo>
                    <a:pt x="0" y="16081"/>
                    <a:pt x="2306" y="10515"/>
                    <a:pt x="6410" y="6410"/>
                  </a:cubicBezTo>
                  <a:cubicBezTo>
                    <a:pt x="10515" y="2306"/>
                    <a:pt x="16081" y="0"/>
                    <a:pt x="2188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51471" cy="701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0" y="7099888"/>
            <a:ext cx="1828800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2759491"/>
            <a:ext cx="1828800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2132475" y="-140976"/>
            <a:ext cx="1638003" cy="2581380"/>
          </a:xfrm>
          <a:custGeom>
            <a:avLst/>
            <a:gdLst/>
            <a:ahLst/>
            <a:cxnLst/>
            <a:rect r="r" b="b" t="t" l="l"/>
            <a:pathLst>
              <a:path h="2581380" w="1638003">
                <a:moveTo>
                  <a:pt x="0" y="0"/>
                </a:moveTo>
                <a:lnTo>
                  <a:pt x="1638003" y="0"/>
                </a:lnTo>
                <a:lnTo>
                  <a:pt x="1638003" y="2581380"/>
                </a:lnTo>
                <a:lnTo>
                  <a:pt x="0" y="2581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0" y="4789412"/>
            <a:ext cx="1828800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6188986" y="2759491"/>
            <a:ext cx="0" cy="434039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11877047" y="2759491"/>
            <a:ext cx="0" cy="434039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95711" y="8204788"/>
            <a:ext cx="2533050" cy="1096063"/>
            <a:chOff x="0" y="0"/>
            <a:chExt cx="667141" cy="2886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7141" cy="288675"/>
            </a:xfrm>
            <a:custGeom>
              <a:avLst/>
              <a:gdLst/>
              <a:ahLst/>
              <a:cxnLst/>
              <a:rect r="r" b="b" t="t" l="l"/>
              <a:pathLst>
                <a:path h="288675" w="667141">
                  <a:moveTo>
                    <a:pt x="144337" y="0"/>
                  </a:moveTo>
                  <a:lnTo>
                    <a:pt x="522803" y="0"/>
                  </a:lnTo>
                  <a:cubicBezTo>
                    <a:pt x="602519" y="0"/>
                    <a:pt x="667141" y="64622"/>
                    <a:pt x="667141" y="144337"/>
                  </a:cubicBezTo>
                  <a:lnTo>
                    <a:pt x="667141" y="144337"/>
                  </a:lnTo>
                  <a:cubicBezTo>
                    <a:pt x="667141" y="182618"/>
                    <a:pt x="651934" y="219331"/>
                    <a:pt x="624865" y="246399"/>
                  </a:cubicBezTo>
                  <a:cubicBezTo>
                    <a:pt x="597797" y="273468"/>
                    <a:pt x="561084" y="288675"/>
                    <a:pt x="522803" y="288675"/>
                  </a:cubicBezTo>
                  <a:lnTo>
                    <a:pt x="144337" y="288675"/>
                  </a:lnTo>
                  <a:cubicBezTo>
                    <a:pt x="106057" y="288675"/>
                    <a:pt x="69344" y="273468"/>
                    <a:pt x="42275" y="246399"/>
                  </a:cubicBezTo>
                  <a:cubicBezTo>
                    <a:pt x="15207" y="219331"/>
                    <a:pt x="0" y="182618"/>
                    <a:pt x="0" y="144337"/>
                  </a:cubicBezTo>
                  <a:lnTo>
                    <a:pt x="0" y="144337"/>
                  </a:lnTo>
                  <a:cubicBezTo>
                    <a:pt x="0" y="106057"/>
                    <a:pt x="15207" y="69344"/>
                    <a:pt x="42275" y="42275"/>
                  </a:cubicBezTo>
                  <a:cubicBezTo>
                    <a:pt x="69344" y="15207"/>
                    <a:pt x="106057" y="0"/>
                    <a:pt x="144337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67141" cy="33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67628" y="8204788"/>
            <a:ext cx="2533050" cy="1096063"/>
            <a:chOff x="0" y="0"/>
            <a:chExt cx="667141" cy="2886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7141" cy="288675"/>
            </a:xfrm>
            <a:custGeom>
              <a:avLst/>
              <a:gdLst/>
              <a:ahLst/>
              <a:cxnLst/>
              <a:rect r="r" b="b" t="t" l="l"/>
              <a:pathLst>
                <a:path h="288675" w="667141">
                  <a:moveTo>
                    <a:pt x="144337" y="0"/>
                  </a:moveTo>
                  <a:lnTo>
                    <a:pt x="522803" y="0"/>
                  </a:lnTo>
                  <a:cubicBezTo>
                    <a:pt x="602519" y="0"/>
                    <a:pt x="667141" y="64622"/>
                    <a:pt x="667141" y="144337"/>
                  </a:cubicBezTo>
                  <a:lnTo>
                    <a:pt x="667141" y="144337"/>
                  </a:lnTo>
                  <a:cubicBezTo>
                    <a:pt x="667141" y="182618"/>
                    <a:pt x="651934" y="219331"/>
                    <a:pt x="624865" y="246399"/>
                  </a:cubicBezTo>
                  <a:cubicBezTo>
                    <a:pt x="597797" y="273468"/>
                    <a:pt x="561084" y="288675"/>
                    <a:pt x="522803" y="288675"/>
                  </a:cubicBezTo>
                  <a:lnTo>
                    <a:pt x="144337" y="288675"/>
                  </a:lnTo>
                  <a:cubicBezTo>
                    <a:pt x="106057" y="288675"/>
                    <a:pt x="69344" y="273468"/>
                    <a:pt x="42275" y="246399"/>
                  </a:cubicBezTo>
                  <a:cubicBezTo>
                    <a:pt x="15207" y="219331"/>
                    <a:pt x="0" y="182618"/>
                    <a:pt x="0" y="144337"/>
                  </a:cubicBezTo>
                  <a:lnTo>
                    <a:pt x="0" y="144337"/>
                  </a:lnTo>
                  <a:cubicBezTo>
                    <a:pt x="0" y="106057"/>
                    <a:pt x="15207" y="69344"/>
                    <a:pt x="42275" y="42275"/>
                  </a:cubicBezTo>
                  <a:cubicBezTo>
                    <a:pt x="69344" y="15207"/>
                    <a:pt x="106057" y="0"/>
                    <a:pt x="144337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67141" cy="33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43602" y="8204788"/>
            <a:ext cx="2533050" cy="1096063"/>
            <a:chOff x="0" y="0"/>
            <a:chExt cx="667141" cy="2886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7141" cy="288675"/>
            </a:xfrm>
            <a:custGeom>
              <a:avLst/>
              <a:gdLst/>
              <a:ahLst/>
              <a:cxnLst/>
              <a:rect r="r" b="b" t="t" l="l"/>
              <a:pathLst>
                <a:path h="288675" w="667141">
                  <a:moveTo>
                    <a:pt x="144337" y="0"/>
                  </a:moveTo>
                  <a:lnTo>
                    <a:pt x="522803" y="0"/>
                  </a:lnTo>
                  <a:cubicBezTo>
                    <a:pt x="602519" y="0"/>
                    <a:pt x="667141" y="64622"/>
                    <a:pt x="667141" y="144337"/>
                  </a:cubicBezTo>
                  <a:lnTo>
                    <a:pt x="667141" y="144337"/>
                  </a:lnTo>
                  <a:cubicBezTo>
                    <a:pt x="667141" y="182618"/>
                    <a:pt x="651934" y="219331"/>
                    <a:pt x="624865" y="246399"/>
                  </a:cubicBezTo>
                  <a:cubicBezTo>
                    <a:pt x="597797" y="273468"/>
                    <a:pt x="561084" y="288675"/>
                    <a:pt x="522803" y="288675"/>
                  </a:cubicBezTo>
                  <a:lnTo>
                    <a:pt x="144337" y="288675"/>
                  </a:lnTo>
                  <a:cubicBezTo>
                    <a:pt x="106057" y="288675"/>
                    <a:pt x="69344" y="273468"/>
                    <a:pt x="42275" y="246399"/>
                  </a:cubicBezTo>
                  <a:cubicBezTo>
                    <a:pt x="15207" y="219331"/>
                    <a:pt x="0" y="182618"/>
                    <a:pt x="0" y="144337"/>
                  </a:cubicBezTo>
                  <a:lnTo>
                    <a:pt x="0" y="144337"/>
                  </a:lnTo>
                  <a:cubicBezTo>
                    <a:pt x="0" y="106057"/>
                    <a:pt x="15207" y="69344"/>
                    <a:pt x="42275" y="42275"/>
                  </a:cubicBezTo>
                  <a:cubicBezTo>
                    <a:pt x="69344" y="15207"/>
                    <a:pt x="106057" y="0"/>
                    <a:pt x="144337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67141" cy="33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19577" y="8180976"/>
            <a:ext cx="2871257" cy="1143688"/>
            <a:chOff x="0" y="0"/>
            <a:chExt cx="756216" cy="3012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6216" cy="301218"/>
            </a:xfrm>
            <a:custGeom>
              <a:avLst/>
              <a:gdLst/>
              <a:ahLst/>
              <a:cxnLst/>
              <a:rect r="r" b="b" t="t" l="l"/>
              <a:pathLst>
                <a:path h="301218" w="756216">
                  <a:moveTo>
                    <a:pt x="137514" y="0"/>
                  </a:moveTo>
                  <a:lnTo>
                    <a:pt x="618702" y="0"/>
                  </a:lnTo>
                  <a:cubicBezTo>
                    <a:pt x="655173" y="0"/>
                    <a:pt x="690150" y="14488"/>
                    <a:pt x="715939" y="40277"/>
                  </a:cubicBezTo>
                  <a:cubicBezTo>
                    <a:pt x="741728" y="66066"/>
                    <a:pt x="756216" y="101043"/>
                    <a:pt x="756216" y="137514"/>
                  </a:cubicBezTo>
                  <a:lnTo>
                    <a:pt x="756216" y="163704"/>
                  </a:lnTo>
                  <a:cubicBezTo>
                    <a:pt x="756216" y="200175"/>
                    <a:pt x="741728" y="235152"/>
                    <a:pt x="715939" y="260941"/>
                  </a:cubicBezTo>
                  <a:cubicBezTo>
                    <a:pt x="690150" y="286730"/>
                    <a:pt x="655173" y="301218"/>
                    <a:pt x="618702" y="301218"/>
                  </a:cubicBezTo>
                  <a:lnTo>
                    <a:pt x="137514" y="301218"/>
                  </a:lnTo>
                  <a:cubicBezTo>
                    <a:pt x="101043" y="301218"/>
                    <a:pt x="66066" y="286730"/>
                    <a:pt x="40277" y="260941"/>
                  </a:cubicBezTo>
                  <a:cubicBezTo>
                    <a:pt x="14488" y="235152"/>
                    <a:pt x="0" y="200175"/>
                    <a:pt x="0" y="163704"/>
                  </a:cubicBezTo>
                  <a:lnTo>
                    <a:pt x="0" y="137514"/>
                  </a:lnTo>
                  <a:cubicBezTo>
                    <a:pt x="0" y="101043"/>
                    <a:pt x="14488" y="66066"/>
                    <a:pt x="40277" y="40277"/>
                  </a:cubicBezTo>
                  <a:cubicBezTo>
                    <a:pt x="66066" y="14488"/>
                    <a:pt x="101043" y="0"/>
                    <a:pt x="137514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56216" cy="34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424877" y="8180976"/>
            <a:ext cx="4473765" cy="1143688"/>
            <a:chOff x="0" y="0"/>
            <a:chExt cx="1178276" cy="3012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8276" cy="301218"/>
            </a:xfrm>
            <a:custGeom>
              <a:avLst/>
              <a:gdLst/>
              <a:ahLst/>
              <a:cxnLst/>
              <a:rect r="r" b="b" t="t" l="l"/>
              <a:pathLst>
                <a:path h="301218" w="1178276">
                  <a:moveTo>
                    <a:pt x="88256" y="0"/>
                  </a:moveTo>
                  <a:lnTo>
                    <a:pt x="1090019" y="0"/>
                  </a:lnTo>
                  <a:cubicBezTo>
                    <a:pt x="1138762" y="0"/>
                    <a:pt x="1178276" y="39514"/>
                    <a:pt x="1178276" y="88256"/>
                  </a:cubicBezTo>
                  <a:lnTo>
                    <a:pt x="1178276" y="212962"/>
                  </a:lnTo>
                  <a:cubicBezTo>
                    <a:pt x="1178276" y="261704"/>
                    <a:pt x="1138762" y="301218"/>
                    <a:pt x="1090019" y="301218"/>
                  </a:cubicBezTo>
                  <a:lnTo>
                    <a:pt x="88256" y="301218"/>
                  </a:lnTo>
                  <a:cubicBezTo>
                    <a:pt x="39514" y="301218"/>
                    <a:pt x="0" y="261704"/>
                    <a:pt x="0" y="212962"/>
                  </a:cubicBezTo>
                  <a:lnTo>
                    <a:pt x="0" y="88256"/>
                  </a:lnTo>
                  <a:cubicBezTo>
                    <a:pt x="0" y="39514"/>
                    <a:pt x="39514" y="0"/>
                    <a:pt x="8825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178276" cy="34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3228761" y="8752820"/>
            <a:ext cx="538867" cy="0"/>
          </a:xfrm>
          <a:prstGeom prst="line">
            <a:avLst/>
          </a:prstGeom>
          <a:ln cap="rnd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>
            <a:off x="6300677" y="8752820"/>
            <a:ext cx="542925" cy="0"/>
          </a:xfrm>
          <a:prstGeom prst="line">
            <a:avLst/>
          </a:prstGeom>
          <a:ln cap="rnd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>
            <a:off x="9376652" y="8752820"/>
            <a:ext cx="542925" cy="0"/>
          </a:xfrm>
          <a:prstGeom prst="line">
            <a:avLst/>
          </a:prstGeom>
          <a:ln cap="rnd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12790834" y="8752820"/>
            <a:ext cx="634043" cy="0"/>
          </a:xfrm>
          <a:prstGeom prst="line">
            <a:avLst/>
          </a:prstGeom>
          <a:ln cap="rnd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1" id="31"/>
          <p:cNvSpPr txBox="true"/>
          <p:nvPr/>
        </p:nvSpPr>
        <p:spPr>
          <a:xfrm rot="0">
            <a:off x="695711" y="361164"/>
            <a:ext cx="8115300" cy="158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8"/>
              </a:lnSpc>
              <a:spcBef>
                <a:spcPct val="0"/>
              </a:spcBef>
            </a:pPr>
            <a:r>
              <a:rPr lang="en-US" sz="6008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Architecture &amp; Workflow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06/28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5711" y="2072650"/>
            <a:ext cx="93002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End-to-end document processing and retrieval pipeline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2853534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55101" y="2853534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4019" y="3289786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Document Upload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13185" y="2853534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9269" y="3708764"/>
            <a:ext cx="4742954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PDF/DOCX/PPT/</a:t>
            </a:r>
            <a:r>
              <a:rPr lang="en-US" sz="1812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Excel/Image upload via secure web interface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61285" y="3289786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Content Extraction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61285" y="3658079"/>
            <a:ext cx="4742954" cy="93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1812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age-by-page text extraction; OCR for image-based docs (Tesseract/PaddleOCR/VLM’s)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41461" y="3289786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Language Detection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41461" y="3563869"/>
            <a:ext cx="4742954" cy="93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langdet</a:t>
            </a:r>
            <a:r>
              <a:rPr lang="en-US" sz="1812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ect identifies non-English; MarianMT/Helsinki-NLP </a:t>
            </a:r>
          </a:p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translates to English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0846" y="4965624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55101" y="4919663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9269" y="5367941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Semantic Chunking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13185" y="4935846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79269" y="5743503"/>
            <a:ext cx="4742954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Text sp</a:t>
            </a:r>
            <a:r>
              <a:rPr lang="en-US" sz="1812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lit into overlapping semantic chunks (512 tokens) preserving context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61285" y="5367941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Vector Embedding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661285" y="5769571"/>
            <a:ext cx="4742954" cy="93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</a:t>
            </a:r>
            <a:r>
              <a:rPr lang="en-US" sz="1812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ntence-BERT / all-MiniLM-L6-v2 generates dense embeddings per chunk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41461" y="5365674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Dual Storage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741461" y="5792848"/>
            <a:ext cx="4742954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FAISS indexes </a:t>
            </a:r>
            <a:r>
              <a:rPr lang="en-US" sz="1812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embeddings; MongoDB stores metadata (doc ID, page, dept)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94941" y="8423417"/>
            <a:ext cx="1334589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</a:pPr>
            <a:r>
              <a:rPr lang="en-US" sz="181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USER </a:t>
            </a:r>
          </a:p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QUERY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208532" y="8423417"/>
            <a:ext cx="1651242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</a:pPr>
            <a:r>
              <a:rPr lang="en-US" sz="181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RBAC </a:t>
            </a:r>
          </a:p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Auth Check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284506" y="8423417"/>
            <a:ext cx="1651242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</a:pPr>
            <a:r>
              <a:rPr lang="en-US" sz="181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Embed </a:t>
            </a:r>
          </a:p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Query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09132" y="8399605"/>
            <a:ext cx="2092146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FAISS Similarity Search (TOP-K)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924309" y="8399605"/>
            <a:ext cx="3556560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LLM Answer generation + Source citiation &amp; TTS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-483338" y="7666626"/>
            <a:ext cx="3556560" cy="39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7"/>
              </a:lnSpc>
              <a:spcBef>
                <a:spcPct val="0"/>
              </a:spcBef>
            </a:pPr>
            <a:r>
              <a:rPr lang="en-US" b="true" sz="2312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QUERY 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6577" y="1499253"/>
            <a:ext cx="16514845" cy="8171200"/>
          </a:xfrm>
          <a:custGeom>
            <a:avLst/>
            <a:gdLst/>
            <a:ahLst/>
            <a:cxnLst/>
            <a:rect r="r" b="b" t="t" l="l"/>
            <a:pathLst>
              <a:path h="8171200" w="16514845">
                <a:moveTo>
                  <a:pt x="0" y="0"/>
                </a:moveTo>
                <a:lnTo>
                  <a:pt x="16514846" y="0"/>
                </a:lnTo>
                <a:lnTo>
                  <a:pt x="16514846" y="8171199"/>
                </a:lnTo>
                <a:lnTo>
                  <a:pt x="0" y="8171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50" t="-19104" r="-4462" b="-12568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95711" y="361164"/>
            <a:ext cx="9937469" cy="81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8"/>
              </a:lnSpc>
              <a:spcBef>
                <a:spcPct val="0"/>
              </a:spcBef>
            </a:pPr>
            <a:r>
              <a:rPr lang="en-US" sz="6008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Screenshot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2445" y="814764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07/28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9113393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976483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880857" y="1823804"/>
            <a:ext cx="5246370" cy="6807857"/>
            <a:chOff x="0" y="0"/>
            <a:chExt cx="812800" cy="1054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4715"/>
            </a:xfrm>
            <a:custGeom>
              <a:avLst/>
              <a:gdLst/>
              <a:ahLst/>
              <a:cxnLst/>
              <a:rect r="r" b="b" t="t" l="l"/>
              <a:pathLst>
                <a:path h="1054715" w="812800">
                  <a:moveTo>
                    <a:pt x="82638" y="0"/>
                  </a:moveTo>
                  <a:lnTo>
                    <a:pt x="730162" y="0"/>
                  </a:lnTo>
                  <a:cubicBezTo>
                    <a:pt x="775802" y="0"/>
                    <a:pt x="812800" y="36998"/>
                    <a:pt x="812800" y="82638"/>
                  </a:cubicBezTo>
                  <a:lnTo>
                    <a:pt x="812800" y="972078"/>
                  </a:lnTo>
                  <a:cubicBezTo>
                    <a:pt x="812800" y="993995"/>
                    <a:pt x="804094" y="1015014"/>
                    <a:pt x="788596" y="1030511"/>
                  </a:cubicBezTo>
                  <a:cubicBezTo>
                    <a:pt x="773098" y="1046009"/>
                    <a:pt x="752079" y="1054715"/>
                    <a:pt x="730162" y="1054715"/>
                  </a:cubicBezTo>
                  <a:lnTo>
                    <a:pt x="82638" y="1054715"/>
                  </a:lnTo>
                  <a:cubicBezTo>
                    <a:pt x="36998" y="1054715"/>
                    <a:pt x="0" y="1017717"/>
                    <a:pt x="0" y="972078"/>
                  </a:cubicBezTo>
                  <a:lnTo>
                    <a:pt x="0" y="82638"/>
                  </a:lnTo>
                  <a:cubicBezTo>
                    <a:pt x="0" y="36998"/>
                    <a:pt x="36998" y="0"/>
                    <a:pt x="8263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5686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9976" y="2111162"/>
            <a:ext cx="10474255" cy="700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sz="208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 Knowledg</a:t>
            </a:r>
            <a:r>
              <a:rPr lang="en-US" sz="208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Studio is an advanced AI-powered platform built to transform scattered enterprise content into a centralized, interactive, and searchable knowledge ecosystem. It supports a wide range of input formats including audio, video, images, PDFs, and documents, enabling organizations to process and understand information from multiple sources in one place. 🚀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sz="208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platform enables users to transcribe conversations, summarize long content, translate information into multiple languages, extract text from images and documents, and interact with content through intelligent question-answering. It also enhances audio quality, generates speech from text, and makes information easier to access across teams and departments. 🌍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sz="208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With advanced search capabilities and secure access controls, users can quickly find the most relevant information while ensuring that content is only accessible to authorized individuals. This creates a smarter, faster, and more efficient way for organizations to manage, share, and use knowledge. 🔍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69976" y="1055865"/>
            <a:ext cx="899371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Knowledge Studio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08/28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423710" y="9606193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419603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96378" y="1339277"/>
            <a:ext cx="8115300" cy="81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8"/>
              </a:lnSpc>
              <a:spcBef>
                <a:spcPct val="0"/>
              </a:spcBef>
            </a:pPr>
            <a:r>
              <a:rPr lang="en-US" sz="6008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knowledge Studio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09/28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6378" y="2263411"/>
            <a:ext cx="1136980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Building an AI knowledge studio that processes documents, audio, video, and images with multilingual translation, summarization, denoising, text-to-speech, RBAC, and contextual search 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7030" y="430557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01823" y="430557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5187" y="4848496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Multi Format Ingestion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26415" y="430557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5187" y="5283518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Video, Audio, Document, PDF, Image, Real time Audio,and many more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1070" y="4827541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Agentic Support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1070" y="5283518"/>
            <a:ext cx="520685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Process the Tasks based on the query of the user by calling the Agents through  prompt ( Ex : Video input + Query Prompt)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21734" y="4777740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Tasks and Agents Capailities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54138" y="5200650"/>
            <a:ext cx="675155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Video conversion, Audio Conversion, Diarization, Denoise, OCR, Summarization,Multilingual translation, Q&amp;A feature, ChatBot featuring response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7030" y="6994208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00331" y="7120890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0874" y="7660958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RBAC &amp; Dept. Access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79768" y="7120890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0874" y="8149590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le-based access — users retrieve only authorized documents and access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81801" y="7706678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Grounded Responses &amp; Exported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05858" y="8177213"/>
            <a:ext cx="566871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nswers strictly generated from retrieved evidence with source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citations and with the Exportable Media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39356" y="7660958"/>
            <a:ext cx="638111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AI-Powered Search  with Context Awareness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40740" y="8149590"/>
            <a:ext cx="577834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Natural languag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search and Retrieve Statergy  using semantic similarity and vector search</a:t>
            </a:r>
          </a:p>
        </p:txBody>
      </p:sp>
      <p:sp>
        <p:nvSpPr>
          <p:cNvPr name="AutoShape 26" id="26"/>
          <p:cNvSpPr/>
          <p:nvPr/>
        </p:nvSpPr>
        <p:spPr>
          <a:xfrm>
            <a:off x="-585133" y="688467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5491545" y="4196034"/>
            <a:ext cx="0" cy="541015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1507491" y="4196034"/>
            <a:ext cx="0" cy="540539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2274986" y="1346835"/>
            <a:ext cx="3687053" cy="1856934"/>
          </a:xfrm>
          <a:custGeom>
            <a:avLst/>
            <a:gdLst/>
            <a:ahLst/>
            <a:cxnLst/>
            <a:rect r="r" b="b" t="t" l="l"/>
            <a:pathLst>
              <a:path h="1856934" w="3687053">
                <a:moveTo>
                  <a:pt x="0" y="0"/>
                </a:moveTo>
                <a:lnTo>
                  <a:pt x="3687054" y="0"/>
                </a:lnTo>
                <a:lnTo>
                  <a:pt x="3687054" y="1856934"/>
                </a:lnTo>
                <a:lnTo>
                  <a:pt x="0" y="1856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7684" y="7829356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684" y="2891714"/>
            <a:ext cx="3700890" cy="108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4"/>
              </a:lnSpc>
              <a:spcBef>
                <a:spcPct val="0"/>
              </a:spcBef>
            </a:pPr>
            <a:r>
              <a:rPr lang="en-US" sz="5108" spc="-403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Resource </a:t>
            </a:r>
          </a:p>
          <a:p>
            <a:pPr algn="l" marL="0" indent="0" lvl="0">
              <a:lnSpc>
                <a:spcPts val="398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97684" y="3604162"/>
            <a:ext cx="370089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ENTRALIZED PLATFORM TOOLS FOR SMARTER KNOWLEDGE MANAGEMENT AND COLLABORATION. 🔍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291519" y="465886"/>
          <a:ext cx="13761685" cy="9628202"/>
        </p:xfrm>
        <a:graphic>
          <a:graphicData uri="http://schemas.openxmlformats.org/drawingml/2006/table">
            <a:tbl>
              <a:tblPr/>
              <a:tblGrid>
                <a:gridCol w="3323044"/>
                <a:gridCol w="2823873"/>
                <a:gridCol w="7614767"/>
              </a:tblGrid>
              <a:tr h="5535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73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CAPABILITIES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b="true" sz="19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Tools / Models Used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73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Video to Audio Conversion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MoviePy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Extracts audio from uploaded video files for further speech processing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Speech Recognition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Faster-Whisper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Converts audio into accurate text transcripts with multilingual support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Speaker Diarization &amp; Mapping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Nvidia NeMo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Identifies multiple speakers and maps dialogue segments to each speaker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5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Content Summarization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Mistral-7B-Instruct / Ollama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Generates concise summaries from transcripts, PDFs, documents, and images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Chatbot &amp; Q&amp;A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Mistral-7B-Instruct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Enables conversational question answering over processed content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Multilingual Translation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NLLB-200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Translates text into multiple languages with contextual 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Text-to-Speech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gTTS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Converts generated text responses into speech output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5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Media Processing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FFmpeg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Handles audio extraction, normalization, format conversion, and media optimization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OCR for Images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Tesseract OCR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Extracts text from images, scanned files, and screenshots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PDF &amp; Document Processing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PyPDF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Reads and extracts text content from PDFs and document files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Semantic Search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FAISS / Vector Database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Performs contextual search using embeddings and chunk-level retrieval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RBAC &amp; Secure Access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JWT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Restricts access based on user role, department, and authorization 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5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Retrieval-Augmented Generation (RAG)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RAG Pipeline with PDF Retrieval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Retrieves relevant document chunks before generating grounded responses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32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b="true" sz="1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Audio Denoising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Demucs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2"/>
                        </a:lnSpc>
                        <a:defRPr/>
                      </a:pPr>
                      <a:r>
                        <a:rPr lang="en-US" sz="16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Removes background noise and improves speech clarity from recordings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5591872" y="5724550"/>
            <a:ext cx="156104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7327845" y="5177883"/>
            <a:ext cx="743468" cy="1093335"/>
          </a:xfrm>
          <a:custGeom>
            <a:avLst/>
            <a:gdLst/>
            <a:ahLst/>
            <a:cxnLst/>
            <a:rect r="r" b="b" t="t" l="l"/>
            <a:pathLst>
              <a:path h="1093335" w="743468">
                <a:moveTo>
                  <a:pt x="0" y="0"/>
                </a:moveTo>
                <a:lnTo>
                  <a:pt x="743468" y="0"/>
                </a:lnTo>
                <a:lnTo>
                  <a:pt x="743468" y="1093335"/>
                </a:lnTo>
                <a:lnTo>
                  <a:pt x="0" y="1093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418" y="651947"/>
            <a:ext cx="833412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Architecture &amp; Workflow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11/28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931" y="6778571"/>
            <a:ext cx="2747328" cy="1225017"/>
            <a:chOff x="0" y="0"/>
            <a:chExt cx="3663103" cy="16333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3663103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1. RBAC &amp; Authentication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68959"/>
              <a:ext cx="3441385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uses JWT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28118" y="3180317"/>
            <a:ext cx="2277734" cy="1177392"/>
            <a:chOff x="0" y="0"/>
            <a:chExt cx="3036979" cy="15698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2.Input layer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Media upload + QueryPrompt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286" y="6901179"/>
            <a:ext cx="4123962" cy="1539342"/>
            <a:chOff x="0" y="0"/>
            <a:chExt cx="5498615" cy="205245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5498615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7.Post Output Features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22859"/>
              <a:ext cx="5498615" cy="1429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Keyword spotting, Sumarization, Translation, Export, etc.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33805" y="6155089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721188" y="4821728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3" y="0"/>
                </a:lnTo>
                <a:lnTo>
                  <a:pt x="380753" y="380753"/>
                </a:lnTo>
                <a:lnTo>
                  <a:pt x="0" y="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841641" y="6155089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401495" y="4858023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3" y="0"/>
                </a:lnTo>
                <a:lnTo>
                  <a:pt x="380753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686233" y="4821728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3"/>
                </a:lnTo>
                <a:lnTo>
                  <a:pt x="0" y="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624635" y="6155089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265250" y="6901179"/>
            <a:ext cx="3099523" cy="1220097"/>
            <a:chOff x="0" y="0"/>
            <a:chExt cx="4132697" cy="1626796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28575"/>
              <a:ext cx="413269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3.Input validation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679799"/>
              <a:ext cx="4132697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Query understanding + Media processing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655032" y="4858023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5565023" y="2704476"/>
            <a:ext cx="3099523" cy="1991622"/>
            <a:chOff x="0" y="0"/>
            <a:chExt cx="4132697" cy="2655496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28575"/>
              <a:ext cx="4132697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4.Langchain &amp; Agentic Workflow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225899"/>
              <a:ext cx="4132697" cy="1429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Query understanding + Tool Deciding Phase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454828" y="6698851"/>
            <a:ext cx="3378344" cy="1943997"/>
            <a:chOff x="0" y="0"/>
            <a:chExt cx="4504458" cy="2591996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371761" y="-28575"/>
              <a:ext cx="413269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5.Tool calling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679799"/>
              <a:ext cx="4504458" cy="1912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many tools like :Audio conversion, video Conversion,diarization ...etc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87681" y="2895248"/>
            <a:ext cx="3407693" cy="1610078"/>
            <a:chOff x="0" y="0"/>
            <a:chExt cx="4543591" cy="2146770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28575"/>
              <a:ext cx="4543591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6.Output processed 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717173"/>
              <a:ext cx="4132697" cy="1429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 Output is Processed and also has </a:t>
              </a:r>
              <a:r>
                <a:rPr lang="en-US" b="true" sz="21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Q&amp; A </a:t>
              </a: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Feature.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3149139" y="6155089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4053389" y="1980576"/>
            <a:ext cx="3099523" cy="2715522"/>
            <a:chOff x="0" y="0"/>
            <a:chExt cx="4132697" cy="3620696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-28575"/>
              <a:ext cx="4132697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Data capture and History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1225899"/>
              <a:ext cx="4132697" cy="2394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 Entire conversation is stored in History and also Stores the meta data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flipV="true">
            <a:off x="1071325" y="5021629"/>
            <a:ext cx="1614778" cy="1112705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5005387" y="5048399"/>
            <a:ext cx="1691112" cy="1297066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9291778" y="5019948"/>
            <a:ext cx="1424006" cy="1288803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V="true">
            <a:off x="13605216" y="5027791"/>
            <a:ext cx="1790875" cy="1259453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3139607" y="5084801"/>
            <a:ext cx="1485028" cy="1260664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H="true" flipV="true">
            <a:off x="7035784" y="5048399"/>
            <a:ext cx="1805856" cy="1297066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H="true" flipV="true">
            <a:off x="11101941" y="5012104"/>
            <a:ext cx="2083274" cy="1333361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15591872" y="5238775"/>
            <a:ext cx="0" cy="485775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1861" y="1597600"/>
            <a:ext cx="16924279" cy="7971003"/>
          </a:xfrm>
          <a:custGeom>
            <a:avLst/>
            <a:gdLst/>
            <a:ahLst/>
            <a:cxnLst/>
            <a:rect r="r" b="b" t="t" l="l"/>
            <a:pathLst>
              <a:path h="7971003" w="16924279">
                <a:moveTo>
                  <a:pt x="0" y="0"/>
                </a:moveTo>
                <a:lnTo>
                  <a:pt x="16924278" y="0"/>
                </a:lnTo>
                <a:lnTo>
                  <a:pt x="16924278" y="7971002"/>
                </a:lnTo>
                <a:lnTo>
                  <a:pt x="0" y="7971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70" r="-3676" b="-1199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81861" y="560764"/>
            <a:ext cx="1167659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Screenshot of Ai Knowledge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2445" y="814764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12/28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711" y="1609884"/>
            <a:ext cx="16896578" cy="7826897"/>
          </a:xfrm>
          <a:custGeom>
            <a:avLst/>
            <a:gdLst/>
            <a:ahLst/>
            <a:cxnLst/>
            <a:rect r="r" b="b" t="t" l="l"/>
            <a:pathLst>
              <a:path h="7826897" w="16896578">
                <a:moveTo>
                  <a:pt x="0" y="0"/>
                </a:moveTo>
                <a:lnTo>
                  <a:pt x="16896578" y="0"/>
                </a:lnTo>
                <a:lnTo>
                  <a:pt x="16896578" y="7826897"/>
                </a:lnTo>
                <a:lnTo>
                  <a:pt x="0" y="7826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95711" y="501074"/>
            <a:ext cx="1123361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Screenshot of Ai Knowledge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2445" y="814764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13/28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92567" y="1007591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96378" y="527476"/>
            <a:ext cx="8115300" cy="81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8"/>
              </a:lnSpc>
              <a:spcBef>
                <a:spcPct val="0"/>
              </a:spcBef>
            </a:pPr>
            <a:r>
              <a:rPr lang="en-US" sz="6008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Face 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14/28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6378" y="1590137"/>
            <a:ext cx="15879177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Building an AI-powered face detection and recognition system that processes live camera feeds to identify individuals in real time using CNN-based deep learning models.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287" y="3335815"/>
            <a:ext cx="11652583" cy="695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3324" indent="-251662" lvl="1">
              <a:lnSpc>
                <a:spcPts val="3263"/>
              </a:lnSpc>
              <a:buFont typeface="Arial"/>
              <a:buChar char="•"/>
            </a:pPr>
            <a:r>
              <a:rPr lang="en-US" b="true" sz="23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 Case</a:t>
            </a:r>
            <a:r>
              <a:rPr lang="en-US" sz="23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: Real-time face detection through live camera feed.</a:t>
            </a:r>
          </a:p>
          <a:p>
            <a:pPr algn="l">
              <a:lnSpc>
                <a:spcPts val="3263"/>
              </a:lnSpc>
            </a:pPr>
          </a:p>
          <a:p>
            <a:pPr algn="l" marL="503324" indent="-251662" lvl="1">
              <a:lnSpc>
                <a:spcPts val="3263"/>
              </a:lnSpc>
              <a:buFont typeface="Arial"/>
              <a:buChar char="•"/>
            </a:pPr>
            <a:r>
              <a:rPr lang="en-US" b="true" sz="23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 Training </a:t>
            </a:r>
            <a:r>
              <a:rPr lang="en-US" sz="23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CNN-based face recognition for identifying known individuals.</a:t>
            </a:r>
          </a:p>
          <a:p>
            <a:pPr algn="l">
              <a:lnSpc>
                <a:spcPts val="3263"/>
              </a:lnSpc>
            </a:pPr>
          </a:p>
          <a:p>
            <a:pPr algn="l" marL="503324" indent="-251662" lvl="1">
              <a:lnSpc>
                <a:spcPts val="3263"/>
              </a:lnSpc>
              <a:buFont typeface="Arial"/>
              <a:buChar char="•"/>
            </a:pPr>
            <a:r>
              <a:rPr lang="en-US" b="true" sz="23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Capability</a:t>
            </a:r>
            <a:r>
              <a:rPr lang="en-US" sz="23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Support for multiple face detection and recognition at the same time.</a:t>
            </a:r>
          </a:p>
          <a:p>
            <a:pPr algn="l">
              <a:lnSpc>
                <a:spcPts val="3263"/>
              </a:lnSpc>
            </a:pPr>
          </a:p>
          <a:p>
            <a:pPr algn="l" marL="503324" indent="-251662" lvl="1">
              <a:lnSpc>
                <a:spcPts val="3263"/>
              </a:lnSpc>
              <a:buFont typeface="Arial"/>
              <a:buChar char="•"/>
            </a:pPr>
            <a:r>
              <a:rPr lang="en-US" b="true" sz="23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Special Feature :</a:t>
            </a:r>
            <a:r>
              <a:rPr lang="en-US" sz="23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Unknown person detection when a face is not present in the trained dataset.</a:t>
            </a:r>
          </a:p>
          <a:p>
            <a:pPr algn="l">
              <a:lnSpc>
                <a:spcPts val="3263"/>
              </a:lnSpc>
            </a:pPr>
          </a:p>
          <a:p>
            <a:pPr algn="l" marL="503324" indent="-251662" lvl="1">
              <a:lnSpc>
                <a:spcPts val="3263"/>
              </a:lnSpc>
              <a:buFont typeface="Arial"/>
              <a:buChar char="•"/>
            </a:pPr>
            <a:r>
              <a:rPr lang="en-US" b="true" sz="23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Users CRUD</a:t>
            </a:r>
            <a:r>
              <a:rPr lang="en-US" sz="23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:Face image dataset training and model retraining support for adding new users.</a:t>
            </a:r>
          </a:p>
          <a:p>
            <a:pPr algn="l">
              <a:lnSpc>
                <a:spcPts val="3263"/>
              </a:lnSpc>
            </a:pPr>
          </a:p>
          <a:p>
            <a:pPr algn="l" marL="503324" indent="-251662" lvl="1">
              <a:lnSpc>
                <a:spcPts val="3263"/>
              </a:lnSpc>
              <a:buFont typeface="Arial"/>
              <a:buChar char="•"/>
            </a:pPr>
            <a:r>
              <a:rPr lang="en-US" b="true" sz="23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Application :</a:t>
            </a:r>
            <a:r>
              <a:rPr lang="en-US" sz="23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Attendance, security, and monitoring system integration capability.</a:t>
            </a:r>
          </a:p>
          <a:p>
            <a:pPr algn="l">
              <a:lnSpc>
                <a:spcPts val="3263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036673" y="3927225"/>
            <a:ext cx="4347888" cy="3857762"/>
          </a:xfrm>
          <a:custGeom>
            <a:avLst/>
            <a:gdLst/>
            <a:ahLst/>
            <a:cxnLst/>
            <a:rect r="r" b="b" t="t" l="l"/>
            <a:pathLst>
              <a:path h="3857762" w="4347888">
                <a:moveTo>
                  <a:pt x="0" y="0"/>
                </a:moveTo>
                <a:lnTo>
                  <a:pt x="4347887" y="0"/>
                </a:lnTo>
                <a:lnTo>
                  <a:pt x="4347887" y="3857762"/>
                </a:lnTo>
                <a:lnTo>
                  <a:pt x="0" y="3857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6378" y="2584547"/>
            <a:ext cx="383853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FEATURES TO LOOK ON: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057" y="7457076"/>
            <a:ext cx="18040743" cy="2482192"/>
            <a:chOff x="0" y="0"/>
            <a:chExt cx="4751471" cy="6537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51472" cy="653746"/>
            </a:xfrm>
            <a:custGeom>
              <a:avLst/>
              <a:gdLst/>
              <a:ahLst/>
              <a:cxnLst/>
              <a:rect r="r" b="b" t="t" l="l"/>
              <a:pathLst>
                <a:path h="653746" w="4751472">
                  <a:moveTo>
                    <a:pt x="21886" y="0"/>
                  </a:moveTo>
                  <a:lnTo>
                    <a:pt x="4729586" y="0"/>
                  </a:lnTo>
                  <a:cubicBezTo>
                    <a:pt x="4741673" y="0"/>
                    <a:pt x="4751472" y="9799"/>
                    <a:pt x="4751472" y="21886"/>
                  </a:cubicBezTo>
                  <a:lnTo>
                    <a:pt x="4751472" y="631860"/>
                  </a:lnTo>
                  <a:cubicBezTo>
                    <a:pt x="4751472" y="637665"/>
                    <a:pt x="4749166" y="643231"/>
                    <a:pt x="4745062" y="647336"/>
                  </a:cubicBezTo>
                  <a:cubicBezTo>
                    <a:pt x="4740957" y="651440"/>
                    <a:pt x="4735390" y="653746"/>
                    <a:pt x="4729586" y="653746"/>
                  </a:cubicBezTo>
                  <a:lnTo>
                    <a:pt x="21886" y="653746"/>
                  </a:lnTo>
                  <a:cubicBezTo>
                    <a:pt x="16081" y="653746"/>
                    <a:pt x="10515" y="651440"/>
                    <a:pt x="6410" y="647336"/>
                  </a:cubicBezTo>
                  <a:cubicBezTo>
                    <a:pt x="2306" y="643231"/>
                    <a:pt x="0" y="637665"/>
                    <a:pt x="0" y="631860"/>
                  </a:cubicBezTo>
                  <a:lnTo>
                    <a:pt x="0" y="21886"/>
                  </a:lnTo>
                  <a:cubicBezTo>
                    <a:pt x="0" y="16081"/>
                    <a:pt x="2306" y="10515"/>
                    <a:pt x="6410" y="6410"/>
                  </a:cubicBezTo>
                  <a:cubicBezTo>
                    <a:pt x="10515" y="2306"/>
                    <a:pt x="16081" y="0"/>
                    <a:pt x="2188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51471" cy="701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0" y="7099888"/>
            <a:ext cx="1828800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2759491"/>
            <a:ext cx="1828800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4789412"/>
            <a:ext cx="1828800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6188986" y="2759491"/>
            <a:ext cx="0" cy="434039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11877047" y="2759491"/>
            <a:ext cx="0" cy="434039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95711" y="8204788"/>
            <a:ext cx="2052742" cy="1096063"/>
            <a:chOff x="0" y="0"/>
            <a:chExt cx="540640" cy="2886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0640" cy="288675"/>
            </a:xfrm>
            <a:custGeom>
              <a:avLst/>
              <a:gdLst/>
              <a:ahLst/>
              <a:cxnLst/>
              <a:rect r="r" b="b" t="t" l="l"/>
              <a:pathLst>
                <a:path h="288675" w="540640">
                  <a:moveTo>
                    <a:pt x="144337" y="0"/>
                  </a:moveTo>
                  <a:lnTo>
                    <a:pt x="396302" y="0"/>
                  </a:lnTo>
                  <a:cubicBezTo>
                    <a:pt x="434583" y="0"/>
                    <a:pt x="471296" y="15207"/>
                    <a:pt x="498364" y="42275"/>
                  </a:cubicBezTo>
                  <a:cubicBezTo>
                    <a:pt x="525433" y="69344"/>
                    <a:pt x="540640" y="106057"/>
                    <a:pt x="540640" y="144337"/>
                  </a:cubicBezTo>
                  <a:lnTo>
                    <a:pt x="540640" y="144337"/>
                  </a:lnTo>
                  <a:cubicBezTo>
                    <a:pt x="540640" y="182618"/>
                    <a:pt x="525433" y="219331"/>
                    <a:pt x="498364" y="246399"/>
                  </a:cubicBezTo>
                  <a:cubicBezTo>
                    <a:pt x="471296" y="273468"/>
                    <a:pt x="434583" y="288675"/>
                    <a:pt x="396302" y="288675"/>
                  </a:cubicBezTo>
                  <a:lnTo>
                    <a:pt x="144337" y="288675"/>
                  </a:lnTo>
                  <a:cubicBezTo>
                    <a:pt x="106057" y="288675"/>
                    <a:pt x="69344" y="273468"/>
                    <a:pt x="42275" y="246399"/>
                  </a:cubicBezTo>
                  <a:cubicBezTo>
                    <a:pt x="15207" y="219331"/>
                    <a:pt x="0" y="182618"/>
                    <a:pt x="0" y="144337"/>
                  </a:cubicBezTo>
                  <a:lnTo>
                    <a:pt x="0" y="144337"/>
                  </a:lnTo>
                  <a:cubicBezTo>
                    <a:pt x="0" y="106057"/>
                    <a:pt x="15207" y="69344"/>
                    <a:pt x="42275" y="42275"/>
                  </a:cubicBezTo>
                  <a:cubicBezTo>
                    <a:pt x="69344" y="15207"/>
                    <a:pt x="106057" y="0"/>
                    <a:pt x="144337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40640" cy="33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767628" y="8204788"/>
            <a:ext cx="2142525" cy="1096063"/>
            <a:chOff x="0" y="0"/>
            <a:chExt cx="564286" cy="2886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286" cy="288675"/>
            </a:xfrm>
            <a:custGeom>
              <a:avLst/>
              <a:gdLst/>
              <a:ahLst/>
              <a:cxnLst/>
              <a:rect r="r" b="b" t="t" l="l"/>
              <a:pathLst>
                <a:path h="288675" w="564286">
                  <a:moveTo>
                    <a:pt x="144337" y="0"/>
                  </a:moveTo>
                  <a:lnTo>
                    <a:pt x="419949" y="0"/>
                  </a:lnTo>
                  <a:cubicBezTo>
                    <a:pt x="458230" y="0"/>
                    <a:pt x="494942" y="15207"/>
                    <a:pt x="522011" y="42275"/>
                  </a:cubicBezTo>
                  <a:cubicBezTo>
                    <a:pt x="549079" y="69344"/>
                    <a:pt x="564286" y="106057"/>
                    <a:pt x="564286" y="144337"/>
                  </a:cubicBezTo>
                  <a:lnTo>
                    <a:pt x="564286" y="144337"/>
                  </a:lnTo>
                  <a:cubicBezTo>
                    <a:pt x="564286" y="182618"/>
                    <a:pt x="549079" y="219331"/>
                    <a:pt x="522011" y="246399"/>
                  </a:cubicBezTo>
                  <a:cubicBezTo>
                    <a:pt x="494942" y="273468"/>
                    <a:pt x="458230" y="288675"/>
                    <a:pt x="419949" y="288675"/>
                  </a:cubicBezTo>
                  <a:lnTo>
                    <a:pt x="144337" y="288675"/>
                  </a:lnTo>
                  <a:cubicBezTo>
                    <a:pt x="106057" y="288675"/>
                    <a:pt x="69344" y="273468"/>
                    <a:pt x="42275" y="246399"/>
                  </a:cubicBezTo>
                  <a:cubicBezTo>
                    <a:pt x="15207" y="219331"/>
                    <a:pt x="0" y="182618"/>
                    <a:pt x="0" y="144337"/>
                  </a:cubicBezTo>
                  <a:lnTo>
                    <a:pt x="0" y="144337"/>
                  </a:lnTo>
                  <a:cubicBezTo>
                    <a:pt x="0" y="106057"/>
                    <a:pt x="15207" y="69344"/>
                    <a:pt x="42275" y="42275"/>
                  </a:cubicBezTo>
                  <a:cubicBezTo>
                    <a:pt x="69344" y="15207"/>
                    <a:pt x="106057" y="0"/>
                    <a:pt x="144337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64286" cy="33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62602" y="8180976"/>
            <a:ext cx="3066450" cy="1096063"/>
            <a:chOff x="0" y="0"/>
            <a:chExt cx="807625" cy="2886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7625" cy="288675"/>
            </a:xfrm>
            <a:custGeom>
              <a:avLst/>
              <a:gdLst/>
              <a:ahLst/>
              <a:cxnLst/>
              <a:rect r="r" b="b" t="t" l="l"/>
              <a:pathLst>
                <a:path h="288675" w="807625">
                  <a:moveTo>
                    <a:pt x="128761" y="0"/>
                  </a:moveTo>
                  <a:lnTo>
                    <a:pt x="678864" y="0"/>
                  </a:lnTo>
                  <a:cubicBezTo>
                    <a:pt x="713013" y="0"/>
                    <a:pt x="745764" y="13566"/>
                    <a:pt x="769911" y="37713"/>
                  </a:cubicBezTo>
                  <a:cubicBezTo>
                    <a:pt x="794059" y="61860"/>
                    <a:pt x="807625" y="94611"/>
                    <a:pt x="807625" y="128761"/>
                  </a:cubicBezTo>
                  <a:lnTo>
                    <a:pt x="807625" y="159914"/>
                  </a:lnTo>
                  <a:cubicBezTo>
                    <a:pt x="807625" y="231027"/>
                    <a:pt x="749977" y="288675"/>
                    <a:pt x="678864" y="288675"/>
                  </a:cubicBezTo>
                  <a:lnTo>
                    <a:pt x="128761" y="288675"/>
                  </a:lnTo>
                  <a:cubicBezTo>
                    <a:pt x="57648" y="288675"/>
                    <a:pt x="0" y="231027"/>
                    <a:pt x="0" y="159914"/>
                  </a:cubicBezTo>
                  <a:lnTo>
                    <a:pt x="0" y="128761"/>
                  </a:lnTo>
                  <a:cubicBezTo>
                    <a:pt x="0" y="57648"/>
                    <a:pt x="57648" y="0"/>
                    <a:pt x="128761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07625" cy="33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19577" y="8180976"/>
            <a:ext cx="2871257" cy="1143688"/>
            <a:chOff x="0" y="0"/>
            <a:chExt cx="756216" cy="3012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6216" cy="301218"/>
            </a:xfrm>
            <a:custGeom>
              <a:avLst/>
              <a:gdLst/>
              <a:ahLst/>
              <a:cxnLst/>
              <a:rect r="r" b="b" t="t" l="l"/>
              <a:pathLst>
                <a:path h="301218" w="756216">
                  <a:moveTo>
                    <a:pt x="137514" y="0"/>
                  </a:moveTo>
                  <a:lnTo>
                    <a:pt x="618702" y="0"/>
                  </a:lnTo>
                  <a:cubicBezTo>
                    <a:pt x="655173" y="0"/>
                    <a:pt x="690150" y="14488"/>
                    <a:pt x="715939" y="40277"/>
                  </a:cubicBezTo>
                  <a:cubicBezTo>
                    <a:pt x="741728" y="66066"/>
                    <a:pt x="756216" y="101043"/>
                    <a:pt x="756216" y="137514"/>
                  </a:cubicBezTo>
                  <a:lnTo>
                    <a:pt x="756216" y="163704"/>
                  </a:lnTo>
                  <a:cubicBezTo>
                    <a:pt x="756216" y="200175"/>
                    <a:pt x="741728" y="235152"/>
                    <a:pt x="715939" y="260941"/>
                  </a:cubicBezTo>
                  <a:cubicBezTo>
                    <a:pt x="690150" y="286730"/>
                    <a:pt x="655173" y="301218"/>
                    <a:pt x="618702" y="301218"/>
                  </a:cubicBezTo>
                  <a:lnTo>
                    <a:pt x="137514" y="301218"/>
                  </a:lnTo>
                  <a:cubicBezTo>
                    <a:pt x="101043" y="301218"/>
                    <a:pt x="66066" y="286730"/>
                    <a:pt x="40277" y="260941"/>
                  </a:cubicBezTo>
                  <a:cubicBezTo>
                    <a:pt x="14488" y="235152"/>
                    <a:pt x="0" y="200175"/>
                    <a:pt x="0" y="163704"/>
                  </a:cubicBezTo>
                  <a:lnTo>
                    <a:pt x="0" y="137514"/>
                  </a:lnTo>
                  <a:cubicBezTo>
                    <a:pt x="0" y="101043"/>
                    <a:pt x="14488" y="66066"/>
                    <a:pt x="40277" y="40277"/>
                  </a:cubicBezTo>
                  <a:cubicBezTo>
                    <a:pt x="66066" y="14488"/>
                    <a:pt x="101043" y="0"/>
                    <a:pt x="137514" y="0"/>
                  </a:cubicBezTo>
                  <a:close/>
                </a:path>
              </a:pathLst>
            </a:custGeom>
            <a:solidFill>
              <a:srgbClr val="80808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56216" cy="34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424877" y="8180976"/>
            <a:ext cx="4473765" cy="1143688"/>
            <a:chOff x="0" y="0"/>
            <a:chExt cx="1178276" cy="3012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8276" cy="301218"/>
            </a:xfrm>
            <a:custGeom>
              <a:avLst/>
              <a:gdLst/>
              <a:ahLst/>
              <a:cxnLst/>
              <a:rect r="r" b="b" t="t" l="l"/>
              <a:pathLst>
                <a:path h="301218" w="1178276">
                  <a:moveTo>
                    <a:pt x="88256" y="0"/>
                  </a:moveTo>
                  <a:lnTo>
                    <a:pt x="1090019" y="0"/>
                  </a:lnTo>
                  <a:cubicBezTo>
                    <a:pt x="1138762" y="0"/>
                    <a:pt x="1178276" y="39514"/>
                    <a:pt x="1178276" y="88256"/>
                  </a:cubicBezTo>
                  <a:lnTo>
                    <a:pt x="1178276" y="212962"/>
                  </a:lnTo>
                  <a:cubicBezTo>
                    <a:pt x="1178276" y="261704"/>
                    <a:pt x="1138762" y="301218"/>
                    <a:pt x="1090019" y="301218"/>
                  </a:cubicBezTo>
                  <a:lnTo>
                    <a:pt x="88256" y="301218"/>
                  </a:lnTo>
                  <a:cubicBezTo>
                    <a:pt x="39514" y="301218"/>
                    <a:pt x="0" y="261704"/>
                    <a:pt x="0" y="212962"/>
                  </a:cubicBezTo>
                  <a:lnTo>
                    <a:pt x="0" y="88256"/>
                  </a:lnTo>
                  <a:cubicBezTo>
                    <a:pt x="0" y="39514"/>
                    <a:pt x="39514" y="0"/>
                    <a:pt x="8825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178276" cy="34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2748453" y="8752820"/>
            <a:ext cx="1019175" cy="0"/>
          </a:xfrm>
          <a:prstGeom prst="line">
            <a:avLst/>
          </a:prstGeom>
          <a:ln cap="rnd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 flipV="true">
            <a:off x="5910152" y="8729007"/>
            <a:ext cx="552450" cy="23812"/>
          </a:xfrm>
          <a:prstGeom prst="line">
            <a:avLst/>
          </a:prstGeom>
          <a:ln cap="rnd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>
            <a:off x="9529052" y="8729007"/>
            <a:ext cx="390525" cy="23812"/>
          </a:xfrm>
          <a:prstGeom prst="line">
            <a:avLst/>
          </a:prstGeom>
          <a:ln cap="rnd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>
            <a:off x="12790834" y="8752820"/>
            <a:ext cx="634043" cy="0"/>
          </a:xfrm>
          <a:prstGeom prst="line">
            <a:avLst/>
          </a:prstGeom>
          <a:ln cap="rnd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0" id="30"/>
          <p:cNvSpPr txBox="true"/>
          <p:nvPr/>
        </p:nvSpPr>
        <p:spPr>
          <a:xfrm rot="0">
            <a:off x="695711" y="361164"/>
            <a:ext cx="8115300" cy="158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8"/>
              </a:lnSpc>
              <a:spcBef>
                <a:spcPct val="0"/>
              </a:spcBef>
            </a:pPr>
            <a:r>
              <a:rPr lang="en-US" sz="6008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Architecture &amp; Workflow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15/28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5711" y="2072650"/>
            <a:ext cx="93002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End-to-end document processing and retrieval pipeline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2853534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55101" y="2853534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4019" y="3289786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 Training Dataset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13185" y="2853534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9269" y="3708764"/>
            <a:ext cx="4742954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Employee </a:t>
            </a:r>
            <a:r>
              <a:rPr lang="en-US" sz="1812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Image upload via secure web interface or Folder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61285" y="3289786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CNN ARCHITECTURAL TRAINING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61285" y="3658079"/>
            <a:ext cx="4742954" cy="93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Training the model to extract key identification statistics and Train using identification learning algorithm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741461" y="3289786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FACE Detection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41461" y="3563869"/>
            <a:ext cx="4742954" cy="93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Real time Face detection when Employee enter office environment Automatically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0846" y="4965624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55101" y="4919663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9269" y="5367941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Record Update via CSV and Database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313185" y="4935846"/>
            <a:ext cx="35995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3"/>
              </a:lnSpc>
              <a:spcBef>
                <a:spcPct val="0"/>
              </a:spcBef>
            </a:pPr>
            <a:r>
              <a:rPr lang="en-US" b="true" sz="28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9269" y="5743503"/>
            <a:ext cx="4742954" cy="124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updates the Database of employee Logout and Login History checks. Also can be downloaded via Report / PDF  CSV for Authenicated persons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61285" y="5367941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Logout and Login Management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61285" y="5769571"/>
            <a:ext cx="4742954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Managing the Login and Logout Records uing Real time camera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41461" y="5365674"/>
            <a:ext cx="4742954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RBAC Based Authentication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41461" y="5792848"/>
            <a:ext cx="4742954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sz="18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RBAC based authentication Access and also JWT enabled MFA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171595" y="8423417"/>
            <a:ext cx="1334589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</a:pPr>
            <a:r>
              <a:rPr lang="en-US" sz="181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CAMERA </a:t>
            </a:r>
          </a:p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TURN 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8423417"/>
            <a:ext cx="1651242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</a:pPr>
            <a:r>
              <a:rPr lang="en-US" sz="181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RBAC </a:t>
            </a:r>
          </a:p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Auth Check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678292" y="8423417"/>
            <a:ext cx="2635071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FACE DETECTED VIA REAL TIME CAMERA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309132" y="8399605"/>
            <a:ext cx="2092146" cy="62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RECORD Storing in Dababase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824927" y="8323270"/>
            <a:ext cx="3556560" cy="93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Records and Database Acces to Administrator and Authenticated profiles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-483338" y="7666626"/>
            <a:ext cx="3556560" cy="39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7"/>
              </a:lnSpc>
              <a:spcBef>
                <a:spcPct val="0"/>
              </a:spcBef>
            </a:pPr>
            <a:r>
              <a:rPr lang="en-US" b="true" sz="2312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QUERY FLOW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3548769" y="433291"/>
            <a:ext cx="1901315" cy="1686985"/>
          </a:xfrm>
          <a:custGeom>
            <a:avLst/>
            <a:gdLst/>
            <a:ahLst/>
            <a:cxnLst/>
            <a:rect r="r" b="b" t="t" l="l"/>
            <a:pathLst>
              <a:path h="1686985" w="1901315">
                <a:moveTo>
                  <a:pt x="0" y="0"/>
                </a:moveTo>
                <a:lnTo>
                  <a:pt x="1901315" y="0"/>
                </a:lnTo>
                <a:lnTo>
                  <a:pt x="1901315" y="1686984"/>
                </a:lnTo>
                <a:lnTo>
                  <a:pt x="0" y="168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0867" y="1739900"/>
            <a:ext cx="16999473" cy="7874560"/>
          </a:xfrm>
          <a:custGeom>
            <a:avLst/>
            <a:gdLst/>
            <a:ahLst/>
            <a:cxnLst/>
            <a:rect r="r" b="b" t="t" l="l"/>
            <a:pathLst>
              <a:path h="7874560" w="16999473">
                <a:moveTo>
                  <a:pt x="0" y="0"/>
                </a:moveTo>
                <a:lnTo>
                  <a:pt x="16999473" y="0"/>
                </a:lnTo>
                <a:lnTo>
                  <a:pt x="16999473" y="7874560"/>
                </a:lnTo>
                <a:lnTo>
                  <a:pt x="0" y="7874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95711" y="501074"/>
            <a:ext cx="1123361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Screenshot of  FaceFlow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2445" y="814764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16/28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711" y="1748359"/>
            <a:ext cx="16978760" cy="7864966"/>
          </a:xfrm>
          <a:custGeom>
            <a:avLst/>
            <a:gdLst/>
            <a:ahLst/>
            <a:cxnLst/>
            <a:rect r="r" b="b" t="t" l="l"/>
            <a:pathLst>
              <a:path h="7864966" w="16978760">
                <a:moveTo>
                  <a:pt x="0" y="0"/>
                </a:moveTo>
                <a:lnTo>
                  <a:pt x="16978760" y="0"/>
                </a:lnTo>
                <a:lnTo>
                  <a:pt x="16978760" y="7864965"/>
                </a:lnTo>
                <a:lnTo>
                  <a:pt x="0" y="7864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95711" y="501074"/>
            <a:ext cx="1123361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Screenshot of FaceFlow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2445" y="814764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17/28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8444167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9095605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04531" y="574549"/>
            <a:ext cx="8993718" cy="83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8"/>
              </a:lnSpc>
            </a:pPr>
            <a:r>
              <a:rPr lang="en-US" sz="6108" spc="-4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CHANGE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18/28</a:t>
            </a:r>
          </a:p>
        </p:txBody>
      </p:sp>
      <p:sp>
        <p:nvSpPr>
          <p:cNvPr name="AutoShape 7" id="7"/>
          <p:cNvSpPr/>
          <p:nvPr/>
        </p:nvSpPr>
        <p:spPr>
          <a:xfrm>
            <a:off x="-585133" y="3526807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585133" y="596588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491545" y="3526807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671742" y="3526807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04531" y="2205439"/>
            <a:ext cx="6811415" cy="112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  <a:spcBef>
                <a:spcPct val="0"/>
              </a:spcBef>
            </a:pPr>
            <a:r>
              <a:rPr lang="en-US" sz="2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Transforming before/after satellite imagery into reliable, overlap-aware change intelligence with robust alignment and low false positives.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4193" y="3678255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2350" y="4233586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Overlap-Aware Alignment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6104" y="4704121"/>
            <a:ext cx="4857084" cy="152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7"/>
              </a:lnSpc>
              <a:spcBef>
                <a:spcPct val="0"/>
              </a:spcBef>
            </a:pPr>
            <a:r>
              <a:rPr lang="en-US" sz="17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Automatically aligns misalign</a:t>
            </a:r>
            <a:r>
              <a:rPr lang="en-US" sz="1733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ed before/after images (shift, partial overlap, slight rotation) before any change analysis.</a:t>
            </a:r>
          </a:p>
          <a:p>
            <a:pPr algn="ctr" marL="0" indent="0" lvl="0">
              <a:lnSpc>
                <a:spcPts val="2427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362231" y="3724656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91070" y="4233586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Trusted Overlap Extraction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91070" y="4641596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Finds valid common region and ignores non-overlapping coverage to prevent false detections.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45754" y="3795436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71804" y="4233586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House/Structure-Guided Matching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86079" y="4814316"/>
            <a:ext cx="5652789" cy="96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5"/>
              </a:lnSpc>
              <a:spcBef>
                <a:spcPct val="0"/>
              </a:spcBef>
            </a:pPr>
            <a:r>
              <a:rPr lang="en-US" sz="183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Prioritizes building-rich regions for mo</a:t>
            </a:r>
            <a:r>
              <a:rPr lang="en-US" sz="183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 stable registration in real-world aerial/satellite scenes.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4193" y="6208777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2350" y="6789802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Local Patch Refinement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0148" y="7239314"/>
            <a:ext cx="4851242" cy="92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2"/>
              </a:lnSpc>
              <a:spcBef>
                <a:spcPct val="0"/>
              </a:spcBef>
            </a:pPr>
            <a:r>
              <a:rPr lang="en-US" sz="175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Refines alignment patch-by-patch (ECC/translation) to correct residual local drif</a:t>
            </a:r>
            <a:r>
              <a:rPr lang="en-US" sz="175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 and parallax effects.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01823" y="6208777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73464" y="6732652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Robust Change Detection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82058" y="7107937"/>
            <a:ext cx="564849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Hyb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rid detection (intensity + structure + color) with adaptive thresholds to capture true new/removed structures.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845754" y="6186257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41073" y="6732652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False Positive Control &amp; Outputs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69996" y="7229789"/>
            <a:ext cx="628495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Applies morphology + component filtering + confide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nce rules; outputs change map, boxed results, overlay, and JSON report.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4531" y="1577424"/>
            <a:ext cx="8993718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-27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AI-Powered Geospatial Change Detection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3293821" y="479299"/>
            <a:ext cx="1916143" cy="1505043"/>
          </a:xfrm>
          <a:custGeom>
            <a:avLst/>
            <a:gdLst/>
            <a:ahLst/>
            <a:cxnLst/>
            <a:rect r="r" b="b" t="t" l="l"/>
            <a:pathLst>
              <a:path h="1505043" w="1916143">
                <a:moveTo>
                  <a:pt x="0" y="0"/>
                </a:moveTo>
                <a:lnTo>
                  <a:pt x="1916143" y="0"/>
                </a:lnTo>
                <a:lnTo>
                  <a:pt x="1916143" y="1505044"/>
                </a:lnTo>
                <a:lnTo>
                  <a:pt x="0" y="1505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70" y="2152794"/>
            <a:ext cx="3207435" cy="3081543"/>
          </a:xfrm>
          <a:custGeom>
            <a:avLst/>
            <a:gdLst/>
            <a:ahLst/>
            <a:cxnLst/>
            <a:rect r="r" b="b" t="t" l="l"/>
            <a:pathLst>
              <a:path h="3081543" w="3207435">
                <a:moveTo>
                  <a:pt x="0" y="0"/>
                </a:moveTo>
                <a:lnTo>
                  <a:pt x="3207435" y="0"/>
                </a:lnTo>
                <a:lnTo>
                  <a:pt x="3207435" y="3081543"/>
                </a:lnTo>
                <a:lnTo>
                  <a:pt x="0" y="3081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221" t="0" r="-993094" b="-7364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30346" y="3252921"/>
            <a:ext cx="885848" cy="88584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586434" y="2152794"/>
            <a:ext cx="3255340" cy="3127568"/>
          </a:xfrm>
          <a:custGeom>
            <a:avLst/>
            <a:gdLst/>
            <a:ahLst/>
            <a:cxnLst/>
            <a:rect r="r" b="b" t="t" l="l"/>
            <a:pathLst>
              <a:path h="3127568" w="3255340">
                <a:moveTo>
                  <a:pt x="0" y="0"/>
                </a:moveTo>
                <a:lnTo>
                  <a:pt x="3255340" y="0"/>
                </a:lnTo>
                <a:lnTo>
                  <a:pt x="3255340" y="3127568"/>
                </a:lnTo>
                <a:lnTo>
                  <a:pt x="0" y="3127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221" t="0" r="-993094" b="-73641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866729" y="3252921"/>
            <a:ext cx="885848" cy="88584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774649" y="2152794"/>
            <a:ext cx="3255340" cy="3127568"/>
          </a:xfrm>
          <a:custGeom>
            <a:avLst/>
            <a:gdLst/>
            <a:ahLst/>
            <a:cxnLst/>
            <a:rect r="r" b="b" t="t" l="l"/>
            <a:pathLst>
              <a:path h="3127568" w="3255340">
                <a:moveTo>
                  <a:pt x="0" y="0"/>
                </a:moveTo>
                <a:lnTo>
                  <a:pt x="3255340" y="0"/>
                </a:lnTo>
                <a:lnTo>
                  <a:pt x="3255340" y="3127568"/>
                </a:lnTo>
                <a:lnTo>
                  <a:pt x="0" y="3127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221" t="0" r="-993094" b="-7364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52119" y="2152794"/>
            <a:ext cx="3013595" cy="2895311"/>
          </a:xfrm>
          <a:custGeom>
            <a:avLst/>
            <a:gdLst/>
            <a:ahLst/>
            <a:cxnLst/>
            <a:rect r="r" b="b" t="t" l="l"/>
            <a:pathLst>
              <a:path h="2895311" w="3013595">
                <a:moveTo>
                  <a:pt x="0" y="0"/>
                </a:moveTo>
                <a:lnTo>
                  <a:pt x="3013595" y="0"/>
                </a:lnTo>
                <a:lnTo>
                  <a:pt x="3013595" y="2895312"/>
                </a:lnTo>
                <a:lnTo>
                  <a:pt x="0" y="2895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7221" t="0" r="-993094" b="-73641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13" id="13"/>
          <p:cNvGrpSpPr/>
          <p:nvPr/>
        </p:nvGrpSpPr>
        <p:grpSpPr>
          <a:xfrm rot="0">
            <a:off x="12299571" y="3252921"/>
            <a:ext cx="885848" cy="88584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452119" y="2098236"/>
            <a:ext cx="3169674" cy="3045264"/>
          </a:xfrm>
          <a:custGeom>
            <a:avLst/>
            <a:gdLst/>
            <a:ahLst/>
            <a:cxnLst/>
            <a:rect r="r" b="b" t="t" l="l"/>
            <a:pathLst>
              <a:path h="3045264" w="3169674">
                <a:moveTo>
                  <a:pt x="0" y="0"/>
                </a:moveTo>
                <a:lnTo>
                  <a:pt x="3169674" y="0"/>
                </a:lnTo>
                <a:lnTo>
                  <a:pt x="3169674" y="3045264"/>
                </a:lnTo>
                <a:lnTo>
                  <a:pt x="0" y="3045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221" t="0" r="-993094" b="-7364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19/28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670" y="316760"/>
            <a:ext cx="833412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Architecture &amp; Workflow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670" y="2200564"/>
            <a:ext cx="3013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1441" y="2518699"/>
            <a:ext cx="175605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INPUT LAYER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754" y="3107225"/>
            <a:ext cx="2937819" cy="113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675" indent="-178338" lvl="1">
              <a:lnSpc>
                <a:spcPts val="2312"/>
              </a:lnSpc>
              <a:buAutoNum type="arabicPeriod" startAt="1"/>
            </a:pPr>
            <a:r>
              <a:rPr lang="en-US" b="true" sz="16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Before + After image pair</a:t>
            </a:r>
          </a:p>
          <a:p>
            <a:pPr algn="l" marL="356675" indent="-178338" lvl="1">
              <a:lnSpc>
                <a:spcPts val="2312"/>
              </a:lnSpc>
              <a:buAutoNum type="arabicPeriod" startAt="1"/>
            </a:pPr>
            <a:r>
              <a:rPr lang="en-US" b="true" sz="16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Differing sizes/resolutions OK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86434" y="2105169"/>
            <a:ext cx="3013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84593" y="2518699"/>
            <a:ext cx="201727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CONFIG LAYER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24322" y="2941609"/>
            <a:ext cx="2937819" cy="199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675" indent="-178338" lvl="1">
              <a:lnSpc>
                <a:spcPts val="2312"/>
              </a:lnSpc>
              <a:buAutoNum type="arabicPeriod" startAt="1"/>
            </a:pPr>
            <a:r>
              <a:rPr lang="en-US" b="true" sz="16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Runtime args &amp; thresholds</a:t>
            </a:r>
          </a:p>
          <a:p>
            <a:pPr algn="l" marL="356675" indent="-178338" lvl="1">
              <a:lnSpc>
                <a:spcPts val="2312"/>
              </a:lnSpc>
              <a:buAutoNum type="arabicPeriod" startAt="1"/>
            </a:pPr>
            <a:r>
              <a:rPr lang="en-US" b="true" sz="16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Alignment &amp; fallback polic</a:t>
            </a:r>
            <a:r>
              <a:rPr lang="en-US" b="true" sz="16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ies</a:t>
            </a:r>
          </a:p>
          <a:p>
            <a:pPr algn="l" marL="356675" indent="-178338" lvl="1">
              <a:lnSpc>
                <a:spcPts val="2312"/>
              </a:lnSpc>
              <a:buAutoNum type="arabicPeriod" startAt="1"/>
            </a:pPr>
            <a:r>
              <a:rPr lang="en-US" b="true" sz="165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Precision vs. recall tuning</a:t>
            </a:r>
          </a:p>
          <a:p>
            <a:pPr algn="l">
              <a:lnSpc>
                <a:spcPts val="2312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019254" y="2105169"/>
            <a:ext cx="3013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05182" y="2518699"/>
            <a:ext cx="256305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ALIGNMENT LAYER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85500" y="2960659"/>
            <a:ext cx="2685422" cy="2273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Geospatial reprojection or feature-based reg.</a:t>
            </a:r>
          </a:p>
          <a:p>
            <a:pPr algn="just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Valid overlap region extraction</a:t>
            </a:r>
          </a:p>
          <a:p>
            <a:pPr algn="just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Compa</a:t>
            </a: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rison-ready image pair</a:t>
            </a:r>
          </a:p>
          <a:p>
            <a:pPr algn="just">
              <a:lnSpc>
                <a:spcPts val="2254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3452119" y="2105169"/>
            <a:ext cx="3013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60659" y="2492029"/>
            <a:ext cx="239651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Core Processing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3528319" y="3005619"/>
            <a:ext cx="2685422" cy="19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Tiled inference on overlap region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DL backends: native + optim</a:t>
            </a: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ized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Unified probability surface</a:t>
            </a:r>
          </a:p>
          <a:p>
            <a:pPr algn="l">
              <a:lnSpc>
                <a:spcPts val="2254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5400000">
            <a:off x="14585914" y="5310321"/>
            <a:ext cx="885848" cy="88584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3528319" y="6362989"/>
            <a:ext cx="3093474" cy="2972055"/>
          </a:xfrm>
          <a:custGeom>
            <a:avLst/>
            <a:gdLst/>
            <a:ahLst/>
            <a:cxnLst/>
            <a:rect r="r" b="b" t="t" l="l"/>
            <a:pathLst>
              <a:path h="2972055" w="3093474">
                <a:moveTo>
                  <a:pt x="0" y="0"/>
                </a:moveTo>
                <a:lnTo>
                  <a:pt x="3093474" y="0"/>
                </a:lnTo>
                <a:lnTo>
                  <a:pt x="3093474" y="2972055"/>
                </a:lnTo>
                <a:lnTo>
                  <a:pt x="0" y="2972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221" t="0" r="-993094" b="-73641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3528319" y="6315364"/>
            <a:ext cx="3013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43935" y="6633499"/>
            <a:ext cx="236980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Core Processing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3616206" y="7145750"/>
            <a:ext cx="2685422" cy="19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Confidence &amp; consistency filters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Edge/intensity gates + smoothing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</a:t>
            </a: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nnected-component cleanup</a:t>
            </a:r>
          </a:p>
          <a:p>
            <a:pPr algn="l">
              <a:lnSpc>
                <a:spcPts val="2254"/>
              </a:lnSpc>
            </a:pPr>
          </a:p>
        </p:txBody>
      </p:sp>
      <p:grpSp>
        <p:nvGrpSpPr>
          <p:cNvPr name="Group 38" id="38"/>
          <p:cNvGrpSpPr/>
          <p:nvPr/>
        </p:nvGrpSpPr>
        <p:grpSpPr>
          <a:xfrm rot="-10800000">
            <a:off x="12299571" y="7243099"/>
            <a:ext cx="885848" cy="88584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9016394" y="6307141"/>
            <a:ext cx="3071724" cy="2951159"/>
          </a:xfrm>
          <a:custGeom>
            <a:avLst/>
            <a:gdLst/>
            <a:ahLst/>
            <a:cxnLst/>
            <a:rect r="r" b="b" t="t" l="l"/>
            <a:pathLst>
              <a:path h="2951159" w="3071724">
                <a:moveTo>
                  <a:pt x="0" y="0"/>
                </a:moveTo>
                <a:lnTo>
                  <a:pt x="3071725" y="0"/>
                </a:lnTo>
                <a:lnTo>
                  <a:pt x="3071725" y="2951159"/>
                </a:lnTo>
                <a:lnTo>
                  <a:pt x="0" y="2951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221" t="0" r="-993094" b="-73641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016394" y="6259516"/>
            <a:ext cx="3013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38289" y="6633499"/>
            <a:ext cx="236980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 Layer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9144000" y="7111051"/>
            <a:ext cx="2685422" cy="19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Pluggable model abstraction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Pretrained checkpoint loading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Swap ar</a:t>
            </a: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chitectures at runtime</a:t>
            </a:r>
          </a:p>
          <a:p>
            <a:pPr algn="l">
              <a:lnSpc>
                <a:spcPts val="2254"/>
              </a:lnSpc>
            </a:pPr>
          </a:p>
        </p:txBody>
      </p:sp>
      <p:grpSp>
        <p:nvGrpSpPr>
          <p:cNvPr name="Group 45" id="45"/>
          <p:cNvGrpSpPr/>
          <p:nvPr/>
        </p:nvGrpSpPr>
        <p:grpSpPr>
          <a:xfrm rot="-10800000">
            <a:off x="7863847" y="7336928"/>
            <a:ext cx="885848" cy="885848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4624322" y="6238367"/>
            <a:ext cx="3143308" cy="3019933"/>
          </a:xfrm>
          <a:custGeom>
            <a:avLst/>
            <a:gdLst/>
            <a:ahLst/>
            <a:cxnLst/>
            <a:rect r="r" b="b" t="t" l="l"/>
            <a:pathLst>
              <a:path h="3019933" w="3143308">
                <a:moveTo>
                  <a:pt x="0" y="0"/>
                </a:moveTo>
                <a:lnTo>
                  <a:pt x="3143308" y="0"/>
                </a:lnTo>
                <a:lnTo>
                  <a:pt x="3143308" y="3019933"/>
                </a:lnTo>
                <a:lnTo>
                  <a:pt x="0" y="3019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221" t="0" r="-993094" b="-73641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4507375" y="6190742"/>
            <a:ext cx="3013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893989" y="6577651"/>
            <a:ext cx="236980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Output Layer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4788408" y="6978460"/>
            <a:ext cx="2685422" cy="19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Binary &amp; probability change maps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Visual overlays + bounding boxes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</a:t>
            </a: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ignment metadata &amp; diagnostics</a:t>
            </a:r>
          </a:p>
          <a:p>
            <a:pPr algn="l">
              <a:lnSpc>
                <a:spcPts val="2254"/>
              </a:lnSpc>
            </a:pPr>
          </a:p>
        </p:txBody>
      </p:sp>
      <p:grpSp>
        <p:nvGrpSpPr>
          <p:cNvPr name="Group 52" id="52"/>
          <p:cNvGrpSpPr/>
          <p:nvPr/>
        </p:nvGrpSpPr>
        <p:grpSpPr>
          <a:xfrm rot="-10800000">
            <a:off x="3471774" y="7243099"/>
            <a:ext cx="885848" cy="885848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26754" y="6148073"/>
            <a:ext cx="3131937" cy="3009008"/>
          </a:xfrm>
          <a:custGeom>
            <a:avLst/>
            <a:gdLst/>
            <a:ahLst/>
            <a:cxnLst/>
            <a:rect r="r" b="b" t="t" l="l"/>
            <a:pathLst>
              <a:path h="3009008" w="3131937">
                <a:moveTo>
                  <a:pt x="0" y="0"/>
                </a:moveTo>
                <a:lnTo>
                  <a:pt x="3131937" y="0"/>
                </a:lnTo>
                <a:lnTo>
                  <a:pt x="3131937" y="3009009"/>
                </a:lnTo>
                <a:lnTo>
                  <a:pt x="0" y="300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221" t="0" r="-993094" b="-73641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88866" y="6100448"/>
            <a:ext cx="3013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#8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93957" y="6508877"/>
            <a:ext cx="236980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Reconstruction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52670" y="6941506"/>
            <a:ext cx="2852379" cy="19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Overlap → full-scene reprojection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Before-</a:t>
            </a: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image reference frame</a:t>
            </a:r>
          </a:p>
          <a:p>
            <a:pPr algn="l" marL="347622" indent="-173811" lvl="1">
              <a:lnSpc>
                <a:spcPts val="2254"/>
              </a:lnSpc>
              <a:buAutoNum type="arabicPeriod" startAt="1"/>
            </a:pPr>
            <a:r>
              <a:rPr lang="en-US" b="true" sz="161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Positional consistency preserved</a:t>
            </a:r>
          </a:p>
          <a:p>
            <a:pPr algn="l">
              <a:lnSpc>
                <a:spcPts val="2254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711" y="1961648"/>
            <a:ext cx="17058605" cy="7901952"/>
          </a:xfrm>
          <a:custGeom>
            <a:avLst/>
            <a:gdLst/>
            <a:ahLst/>
            <a:cxnLst/>
            <a:rect r="r" b="b" t="t" l="l"/>
            <a:pathLst>
              <a:path h="7901952" w="17058605">
                <a:moveTo>
                  <a:pt x="0" y="0"/>
                </a:moveTo>
                <a:lnTo>
                  <a:pt x="17058605" y="0"/>
                </a:lnTo>
                <a:lnTo>
                  <a:pt x="17058605" y="7901951"/>
                </a:lnTo>
                <a:lnTo>
                  <a:pt x="0" y="7901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95711" y="727075"/>
            <a:ext cx="1243131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Screenshot of Geo-Spatial change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2445" y="814764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20/28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933069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419603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96378" y="716169"/>
            <a:ext cx="8115300" cy="158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8"/>
              </a:lnSpc>
              <a:spcBef>
                <a:spcPct val="0"/>
              </a:spcBef>
            </a:pPr>
            <a:r>
              <a:rPr lang="en-US" sz="6008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Video Analytics and Intelligent OCR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21/28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6378" y="2586223"/>
            <a:ext cx="893793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Vision Language Models extract structured data from drone/CCTV video frames — burned-in telemetry, GPS coordinates, license plates, timestamps, and identifiers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4193" y="434748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62231" y="439388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2350" y="4902812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Video/Image Input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45754" y="446466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2350" y="5357178"/>
            <a:ext cx="5016359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Drone video f</a:t>
            </a:r>
            <a:r>
              <a:rPr lang="en-US" sz="1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eeds or CCTV footage ingested; burned-in telemetry/OSD visible in frames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1070" y="4902812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Frame Sampling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1070" y="5310823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Intelligent keyframe extraction reduces redundancy while 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preserving all unique text 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71804" y="4902812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VLM Inference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84370" y="5474018"/>
            <a:ext cx="593897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Vision Language Model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processes each frame for text detection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4193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01823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2350" y="7509239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Text Region Detection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45754" y="6987269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624" y="7958138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OCR + object detection localizes text regions; lat/lon, timestamps, ID’s ex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tracted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86052" y="7509239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Structured Data Output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96089" y="7967663"/>
            <a:ext cx="520632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arsed GPS coordinates, timestamps, vehicle IDs compiled into structured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JSON/CSV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41073" y="7509239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Downstream Analytics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81633" y="7967663"/>
            <a:ext cx="628495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Extracted data feeds GIS mapping, 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fore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nsic analysis,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license plate cross-referencing</a:t>
            </a:r>
          </a:p>
        </p:txBody>
      </p:sp>
      <p:sp>
        <p:nvSpPr>
          <p:cNvPr name="AutoShape 26" id="26"/>
          <p:cNvSpPr/>
          <p:nvPr/>
        </p:nvSpPr>
        <p:spPr>
          <a:xfrm>
            <a:off x="-585133" y="6635115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5491545" y="4196034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1671742" y="4196034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3640125" y="716904"/>
            <a:ext cx="1484639" cy="1484639"/>
          </a:xfrm>
          <a:custGeom>
            <a:avLst/>
            <a:gdLst/>
            <a:ahLst/>
            <a:cxnLst/>
            <a:rect r="r" b="b" t="t" l="l"/>
            <a:pathLst>
              <a:path h="1484639" w="1484639">
                <a:moveTo>
                  <a:pt x="0" y="0"/>
                </a:moveTo>
                <a:lnTo>
                  <a:pt x="1484640" y="0"/>
                </a:lnTo>
                <a:lnTo>
                  <a:pt x="1484640" y="1484640"/>
                </a:lnTo>
                <a:lnTo>
                  <a:pt x="0" y="1484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8667" y="-77199"/>
            <a:ext cx="3218048" cy="1257964"/>
          </a:xfrm>
          <a:custGeom>
            <a:avLst/>
            <a:gdLst/>
            <a:ahLst/>
            <a:cxnLst/>
            <a:rect r="r" b="b" t="t" l="l"/>
            <a:pathLst>
              <a:path h="1257964" w="3218048">
                <a:moveTo>
                  <a:pt x="0" y="0"/>
                </a:moveTo>
                <a:lnTo>
                  <a:pt x="3218048" y="0"/>
                </a:lnTo>
                <a:lnTo>
                  <a:pt x="3218048" y="1257965"/>
                </a:lnTo>
                <a:lnTo>
                  <a:pt x="0" y="1257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578" y="210485"/>
            <a:ext cx="10549314" cy="9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0"/>
              </a:lnSpc>
              <a:spcBef>
                <a:spcPct val="0"/>
              </a:spcBef>
            </a:pPr>
            <a:r>
              <a:rPr lang="en-US" sz="3700" spc="-29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VLM-Powered Agentic OCR &amp; CCTV Analysis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81824" y="30129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22/28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57490" y="1416102"/>
          <a:ext cx="17573020" cy="8377579"/>
        </p:xfrm>
        <a:graphic>
          <a:graphicData uri="http://schemas.openxmlformats.org/drawingml/2006/table">
            <a:tbl>
              <a:tblPr/>
              <a:tblGrid>
                <a:gridCol w="4005106"/>
                <a:gridCol w="6733104"/>
                <a:gridCol w="6834810"/>
              </a:tblGrid>
              <a:tr h="721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52"/>
                        </a:lnSpc>
                        <a:defRPr/>
                      </a:pPr>
                      <a:r>
                        <a:rPr lang="en-US" sz="26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Component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52"/>
                        </a:lnSpc>
                        <a:defRPr/>
                      </a:pPr>
                      <a:r>
                        <a:rPr lang="en-US" sz="26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Module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52"/>
                        </a:lnSpc>
                        <a:defRPr/>
                      </a:pPr>
                      <a:r>
                        <a:rPr lang="en-US" sz="26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 / Technology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VLM 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Vision Language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Llama 3.2-Vision 11B (Local via Ollama)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Inference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VLM Deployment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Ollama (GPU-first subprocess, auto-started)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Plate ROI Crop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YOLOv8n (bounding box crop)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Frame Preprocessing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OpenCV CLAHE + blackout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b="true" sz="23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Validation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Plate Text Validation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Regex + Confidence Filter (Pydantic pipeline)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Anomaly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CCTV Anomaly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Laplacian Blur Scoring + VLM scene analysis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Timeline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Gap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Custom Python Agent (timestamp tracker)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01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Pipeline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Orchestration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LangGraph + FastAPI (async pipeline)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7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Storage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Storage &amp; API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SQLite + FastAPI REST layer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933069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419603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1159450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6378" y="716169"/>
            <a:ext cx="8115300" cy="81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8"/>
              </a:lnSpc>
              <a:spcBef>
                <a:spcPct val="0"/>
              </a:spcBef>
            </a:pPr>
            <a:r>
              <a:rPr lang="en-US" sz="6008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 Detection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23/28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6378" y="2586223"/>
            <a:ext cx="893793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Real-time YOLO-based detection of humans and weapons in surveillance feeds — trained on specialized weapons dataset with confidence-scored threat flagging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4193" y="4347481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62231" y="439388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2350" y="4902812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Input Source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45754" y="446466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2350" y="5357178"/>
            <a:ext cx="5016359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Live CCTV/camera f</a:t>
            </a:r>
            <a:r>
              <a:rPr lang="en-US" sz="1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eed or uploaded video/image; multi-source streaming</a:t>
            </a:r>
          </a:p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can be supported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1070" y="4936807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Frame Preprocessing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91070" y="5431426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Process the video into frames and frame correction and aligning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5679" y="4936807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YOLO Inference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81633" y="5310823"/>
            <a:ext cx="5938976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YOLOv8/v9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backbone performs 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single-pass detection for humans and weapon classes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4193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01823" y="6878003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2350" y="7509239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NMS &amp; Filtering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45754" y="6987269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# 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624" y="7958138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Non-Maximum Suppression filters overlapping detections; 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confidence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thresholding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86052" y="7509239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Threat Classification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96089" y="7967663"/>
            <a:ext cx="520632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Detect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ed objects classified — human / weapon type (firearm, knife, etc.) with bounding boxes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41073" y="7509239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Alert &amp; Logging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81633" y="7967663"/>
            <a:ext cx="628495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High-confidence weapon det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ections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trigger alerts; frames logged with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metadata for review</a:t>
            </a:r>
          </a:p>
        </p:txBody>
      </p:sp>
      <p:sp>
        <p:nvSpPr>
          <p:cNvPr name="AutoShape 27" id="27"/>
          <p:cNvSpPr/>
          <p:nvPr/>
        </p:nvSpPr>
        <p:spPr>
          <a:xfrm>
            <a:off x="-585133" y="6635115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5491545" y="4196034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1671742" y="4196034"/>
            <a:ext cx="0" cy="513465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596378" y="1868672"/>
            <a:ext cx="8115300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3500" spc="-27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Human &amp; Weapon Detection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6025" y="9258300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7" y="0"/>
                </a:lnTo>
                <a:lnTo>
                  <a:pt x="2611027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6025" y="580337"/>
            <a:ext cx="3700890" cy="584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4"/>
              </a:lnSpc>
              <a:spcBef>
                <a:spcPct val="0"/>
              </a:spcBef>
            </a:pPr>
            <a:r>
              <a:rPr lang="en-US" sz="5108" spc="-403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Resource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6025" y="1259315"/>
            <a:ext cx="10474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ENTRALIZED PLATFORM TOOLS FOR SMARTER DETECTION FRAMEWORKS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77265" y="1924977"/>
          <a:ext cx="16356228" cy="7007386"/>
        </p:xfrm>
        <a:graphic>
          <a:graphicData uri="http://schemas.openxmlformats.org/drawingml/2006/table">
            <a:tbl>
              <a:tblPr/>
              <a:tblGrid>
                <a:gridCol w="3949550"/>
                <a:gridCol w="3356269"/>
                <a:gridCol w="9050409"/>
              </a:tblGrid>
              <a:tr h="14254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53"/>
                        </a:lnSpc>
                        <a:defRPr/>
                      </a:pPr>
                      <a:r>
                        <a:rPr lang="en-US" sz="26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CAPABILITIES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52"/>
                        </a:lnSpc>
                        <a:defRPr/>
                      </a:pPr>
                      <a:r>
                        <a:rPr lang="en-US" b="true" sz="26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Tools / Models Used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53"/>
                        </a:lnSpc>
                        <a:defRPr/>
                      </a:pPr>
                      <a:r>
                        <a:rPr lang="en-US" sz="26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Object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YOLO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YOLO models for object detection. YOLOv8, YOLOv11 (Medium scale models).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Weapon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Training Dataset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Dataset from Kaggle with about 1000+ images of Weapons. Trained for 200 epochs with an accuracy of 76%.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11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Input format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Upload files from UI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2"/>
                        </a:lnSpc>
                        <a:defRPr/>
                      </a:pPr>
                      <a:r>
                        <a:rPr lang="en-US" sz="23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Videos and Images both supported. 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24/28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08961" y="436419"/>
            <a:ext cx="2781741" cy="1087408"/>
          </a:xfrm>
          <a:custGeom>
            <a:avLst/>
            <a:gdLst/>
            <a:ahLst/>
            <a:cxnLst/>
            <a:rect r="r" b="b" t="t" l="l"/>
            <a:pathLst>
              <a:path h="1087408" w="2781741">
                <a:moveTo>
                  <a:pt x="0" y="0"/>
                </a:moveTo>
                <a:lnTo>
                  <a:pt x="2781741" y="0"/>
                </a:lnTo>
                <a:lnTo>
                  <a:pt x="2781741" y="1087408"/>
                </a:lnTo>
                <a:lnTo>
                  <a:pt x="0" y="1087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9886" y="342727"/>
            <a:ext cx="10549314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35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Overall - Models used,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4500" spc="-35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Benchmarks and Training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25/28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886" y="1457152"/>
            <a:ext cx="345860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Models Used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66721" y="2218518"/>
          <a:ext cx="15953666" cy="7604127"/>
        </p:xfrm>
        <a:graphic>
          <a:graphicData uri="http://schemas.openxmlformats.org/drawingml/2006/table">
            <a:tbl>
              <a:tblPr/>
              <a:tblGrid>
                <a:gridCol w="3852343"/>
                <a:gridCol w="3273664"/>
                <a:gridCol w="8827658"/>
              </a:tblGrid>
              <a:tr h="632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93"/>
                        </a:lnSpc>
                        <a:defRPr/>
                      </a:pPr>
                      <a:r>
                        <a:rPr lang="en-US" sz="22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 Name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92"/>
                        </a:lnSpc>
                        <a:defRPr/>
                      </a:pPr>
                      <a:r>
                        <a:rPr lang="en-US" sz="22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Specification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93"/>
                        </a:lnSpc>
                        <a:defRPr/>
                      </a:pPr>
                      <a:r>
                        <a:rPr lang="en-US" sz="22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Llama 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3.1:8b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 LLM Respone generation in Document intelligence chatbot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8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NLLB (No language left behind-Meta)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Translation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 conversion of any language to english and vice versa with support upto 250+ languages.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Llama vision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Vision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 Video analytics and OCR extraction from images/videos.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Yolo-models 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YOLOv8,v11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 object detection - Weapons, Humans, objects.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8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MINI-L6 v2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embedding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Used to embed text into the vector database and to reterive the vectors as well for Document Intelligence chatbot and AI Knowledge Studio.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b="true" sz="19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Multilingual Translation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NLLB-200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Translates text into multiple languages with contextual 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Llama Mistral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3.1:8b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 LLM Respone generation in Ai knowledge Studio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8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Nvidia NeMo ASR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Diarization &amp; Mapping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Used for Automatic speech Recognition and Diarization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Faster Whisper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Open-Ai whisper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used to transcribe the audio to Extract the Data through texts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8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Demucs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Denoising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72"/>
                        </a:lnSpc>
                        <a:defRPr/>
                      </a:pPr>
                      <a:r>
                        <a:rPr lang="en-US" sz="19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 is used to Denoise the audio to remove the Background Noise and extract the pure Vocal Audio.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08961" y="436419"/>
            <a:ext cx="2781741" cy="1087408"/>
          </a:xfrm>
          <a:custGeom>
            <a:avLst/>
            <a:gdLst/>
            <a:ahLst/>
            <a:cxnLst/>
            <a:rect r="r" b="b" t="t" l="l"/>
            <a:pathLst>
              <a:path h="1087408" w="2781741">
                <a:moveTo>
                  <a:pt x="0" y="0"/>
                </a:moveTo>
                <a:lnTo>
                  <a:pt x="2781741" y="0"/>
                </a:lnTo>
                <a:lnTo>
                  <a:pt x="2781741" y="1087408"/>
                </a:lnTo>
                <a:lnTo>
                  <a:pt x="0" y="1087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033924"/>
            <a:ext cx="15873310" cy="7376210"/>
          </a:xfrm>
          <a:custGeom>
            <a:avLst/>
            <a:gdLst/>
            <a:ahLst/>
            <a:cxnLst/>
            <a:rect r="r" b="b" t="t" l="l"/>
            <a:pathLst>
              <a:path h="7376210" w="15873310">
                <a:moveTo>
                  <a:pt x="0" y="0"/>
                </a:moveTo>
                <a:lnTo>
                  <a:pt x="15873310" y="0"/>
                </a:lnTo>
                <a:lnTo>
                  <a:pt x="15873310" y="7376209"/>
                </a:lnTo>
                <a:lnTo>
                  <a:pt x="0" y="7376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71" r="0" b="-57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9886" y="446386"/>
            <a:ext cx="10549314" cy="158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6088" spc="-48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Model’s </a:t>
            </a:r>
          </a:p>
          <a:p>
            <a:pPr algn="l" marL="0" indent="0" lvl="0">
              <a:lnSpc>
                <a:spcPts val="6088"/>
              </a:lnSpc>
              <a:spcBef>
                <a:spcPct val="0"/>
              </a:spcBef>
            </a:pPr>
            <a:r>
              <a:rPr lang="en-US" sz="6088" spc="-48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Benchmarks and Training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26/28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669133"/>
            <a:ext cx="1664133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NOTE: 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We have used the pre-trained weights of the llama 3:8B parameters models, with fine tuning if required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77190" y="63639"/>
            <a:ext cx="2273388" cy="888688"/>
          </a:xfrm>
          <a:custGeom>
            <a:avLst/>
            <a:gdLst/>
            <a:ahLst/>
            <a:cxnLst/>
            <a:rect r="r" b="b" t="t" l="l"/>
            <a:pathLst>
              <a:path h="888688" w="2273388">
                <a:moveTo>
                  <a:pt x="0" y="0"/>
                </a:moveTo>
                <a:lnTo>
                  <a:pt x="2273388" y="0"/>
                </a:lnTo>
                <a:lnTo>
                  <a:pt x="2273388" y="888688"/>
                </a:lnTo>
                <a:lnTo>
                  <a:pt x="0" y="8886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9886" y="342727"/>
            <a:ext cx="1054931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4500" spc="-35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Overall - Models Training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81824" y="30129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27/28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29886" y="1277178"/>
          <a:ext cx="17573020" cy="7842198"/>
        </p:xfrm>
        <a:graphic>
          <a:graphicData uri="http://schemas.openxmlformats.org/drawingml/2006/table">
            <a:tbl>
              <a:tblPr/>
              <a:tblGrid>
                <a:gridCol w="4005106"/>
                <a:gridCol w="6733104"/>
                <a:gridCol w="6834810"/>
              </a:tblGrid>
              <a:tr h="6752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What Happens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Techniques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3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 Collection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Gather large-scale data (till 2023)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Multi-source datasets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3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 Cleaning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Remove unsafe &amp; low-quality 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PII filtering, deduplication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3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 Curation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Extract useful text from web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HTML parsing, boilerplate removal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3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Quality Filtering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Select high-quality content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Heuristics + ML classifiers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3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b="true" sz="200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Specialized Pipelines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Extract domain-specific 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Code &amp; reasoning classifiers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3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Multilingual Processing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Handle multiple languages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Language detection (176 langs)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3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 Mix Optimization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Balance dataset composition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Scaling laws, classification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23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Final Data Mix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Structured token distribution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50% general, 25% reasoning, 17% code, 8% multilingual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Annealing Phase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Final training refinement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Upsampling high-quality math/code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529886" y="9405126"/>
            <a:ext cx="18097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NOTE: </a:t>
            </a:r>
            <a:r>
              <a:rPr lang="en-US" b="true" sz="2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All Data is taken from the offical Release of the paper by META: “Llama 3 Herd of models” → </a:t>
            </a:r>
            <a:r>
              <a:rPr lang="en-US" b="true" sz="2399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  <a:hlinkClick r:id="rId5" tooltip="https://arxiv.org/pdf/2407.21783"/>
              </a:rPr>
              <a:t>Paper-link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75443" y="-56082"/>
            <a:ext cx="2758735" cy="1078415"/>
          </a:xfrm>
          <a:custGeom>
            <a:avLst/>
            <a:gdLst/>
            <a:ahLst/>
            <a:cxnLst/>
            <a:rect r="r" b="b" t="t" l="l"/>
            <a:pathLst>
              <a:path h="1078415" w="2758735">
                <a:moveTo>
                  <a:pt x="0" y="0"/>
                </a:moveTo>
                <a:lnTo>
                  <a:pt x="2758735" y="0"/>
                </a:lnTo>
                <a:lnTo>
                  <a:pt x="2758735" y="1078415"/>
                </a:lnTo>
                <a:lnTo>
                  <a:pt x="0" y="1078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9886" y="584183"/>
            <a:ext cx="1054931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4500" spc="-35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Models Training Time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14902" y="1266522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28/28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29886" y="1924097"/>
          <a:ext cx="17175565" cy="7957436"/>
        </p:xfrm>
        <a:graphic>
          <a:graphicData uri="http://schemas.openxmlformats.org/drawingml/2006/table">
            <a:tbl>
              <a:tblPr/>
              <a:tblGrid>
                <a:gridCol w="1812135"/>
                <a:gridCol w="3036178"/>
                <a:gridCol w="3081813"/>
                <a:gridCol w="3081813"/>
                <a:gridCol w="3081813"/>
                <a:gridCol w="3081813"/>
              </a:tblGrid>
              <a:tr h="17125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 Type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Task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Dataset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Training Time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Training Approach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32"/>
                        </a:lnSpc>
                        <a:defRPr/>
                      </a:pPr>
                      <a:r>
                        <a:rPr lang="en-US" sz="23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77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YOLO (Object Detection)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Weapon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Weapons Dataset </a:t>
                      </a:r>
                      <a:endParaRPr lang="en-US" sz="1100"/>
                    </a:p>
                    <a:p>
                      <a:pPr algn="ctr">
                        <a:lnSpc>
                          <a:spcPts val="2812"/>
                        </a:lnSpc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from Kaggle </a:t>
                      </a:r>
                    </a:p>
                    <a:p>
                      <a:pPr algn="ctr">
                        <a:lnSpc>
                          <a:spcPts val="2812"/>
                        </a:lnSpc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(~5000+ images)</a:t>
                      </a:r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~6–7 hours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Supervised training (YOLO architecture)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Real-time detection capability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7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Transformer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Change Detection (Images)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LEVIR-CD+ Dataset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~5–6 hours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Transformer-based vision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Detects pixel-level spatial changes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63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LLM (Fine-tuning)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Task-specific adaptation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Depends on use-case dataset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Varies (depends on dataset size)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PEFT (LoRA / QLoRA)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2"/>
                        </a:lnSpc>
                        <a:defRPr/>
                      </a:pPr>
                      <a:r>
                        <a:rPr lang="en-US" sz="200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Efficient fine-tuning with low compute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DAHFHU4wwz4</dc:identifier>
  <dcterms:modified xsi:type="dcterms:W3CDTF">2011-08-01T06:04:30Z</dcterms:modified>
  <cp:revision>1</cp:revision>
  <dc:title>AI Solutions portfolio</dc:title>
</cp:coreProperties>
</file>